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thic A1"/>
      <p:regular r:id="rId22"/>
      <p:bold r:id="rId23"/>
    </p:embeddedFont>
    <p:embeddedFont>
      <p:font typeface="Helvetica Neue"/>
      <p:regular r:id="rId24"/>
      <p:bold r:id="rId25"/>
      <p:italic r:id="rId26"/>
      <p:boldItalic r:id="rId27"/>
    </p:embeddedFont>
    <p:embeddedFont>
      <p:font typeface="Playfair Display Black"/>
      <p:bold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288">
          <p15:clr>
            <a:srgbClr val="9AA0A6"/>
          </p15:clr>
        </p15:guide>
        <p15:guide id="4" orient="horz" pos="720">
          <p15:clr>
            <a:srgbClr val="9AA0A6"/>
          </p15:clr>
        </p15:guide>
        <p15:guide id="5" orient="horz" pos="427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8ADFBB5-2290-4648-8394-20B9E96A8BAC}">
  <a:tblStyle styleId="{08ADFBB5-2290-4648-8394-20B9E96A8BA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288"/>
        <p:guide pos="720" orient="horz"/>
        <p:guide pos="42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GothicA1-regular.fntdata"/><Relationship Id="rId21" Type="http://schemas.openxmlformats.org/officeDocument/2006/relationships/slide" Target="slides/slide15.xml"/><Relationship Id="rId24" Type="http://schemas.openxmlformats.org/officeDocument/2006/relationships/font" Target="fonts/HelveticaNeue-regular.fntdata"/><Relationship Id="rId23" Type="http://schemas.openxmlformats.org/officeDocument/2006/relationships/font" Target="fonts/GothicA1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HelveticaNeue-italic.fntdata"/><Relationship Id="rId25" Type="http://schemas.openxmlformats.org/officeDocument/2006/relationships/font" Target="fonts/HelveticaNeue-bold.fntdata"/><Relationship Id="rId28" Type="http://schemas.openxmlformats.org/officeDocument/2006/relationships/font" Target="fonts/PlayfairDisplayBlack-bold.fntdata"/><Relationship Id="rId27" Type="http://schemas.openxmlformats.org/officeDocument/2006/relationships/font" Target="fonts/HelveticaNeue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layfairDisplayBlack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2c7cbdd0b8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2c7cbdd0b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g12c7cbdd0b8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2c7cbdd0b8_0_5:notes"/>
          <p:cNvSpPr/>
          <p:nvPr>
            <p:ph idx="2" type="sldImg"/>
          </p:nvPr>
        </p:nvSpPr>
        <p:spPr>
          <a:xfrm>
            <a:off x="686157" y="1143000"/>
            <a:ext cx="5485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12c7cbdd0b8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12c7cbdd0b8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2c7cbdd0b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2c7cbdd0b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2c7cbdd0b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2c7cbdd0b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2c7cbdd0b8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12c7cbdd0b8_0_46:notes"/>
          <p:cNvSpPr/>
          <p:nvPr>
            <p:ph idx="2" type="sldImg"/>
          </p:nvPr>
        </p:nvSpPr>
        <p:spPr>
          <a:xfrm>
            <a:off x="686157" y="1143000"/>
            <a:ext cx="5485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2c7cbdd0b8_0_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2c7cbdd0b8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12c7cbdd0b8_0_6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2c7cbdd0b8_0_73:notes"/>
          <p:cNvSpPr/>
          <p:nvPr>
            <p:ph idx="2" type="sldImg"/>
          </p:nvPr>
        </p:nvSpPr>
        <p:spPr>
          <a:xfrm>
            <a:off x="686157" y="1143000"/>
            <a:ext cx="5485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12c7cbdd0b8_0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12c7cbdd0b8_0_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2c7cbdd0b8_0_82:notes"/>
          <p:cNvSpPr/>
          <p:nvPr>
            <p:ph idx="2" type="sldImg"/>
          </p:nvPr>
        </p:nvSpPr>
        <p:spPr>
          <a:xfrm>
            <a:off x="686157" y="1143000"/>
            <a:ext cx="5485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12c7cbdd0b8_0_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12c7cbdd0b8_0_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2c7cbdd0b8_0_106:notes"/>
          <p:cNvSpPr/>
          <p:nvPr>
            <p:ph idx="2" type="sldImg"/>
          </p:nvPr>
        </p:nvSpPr>
        <p:spPr>
          <a:xfrm>
            <a:off x="686157" y="1143000"/>
            <a:ext cx="5485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12c7cbdd0b8_0_1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12c7cbdd0b8_0_1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2c7cbdd0b8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12c7cbdd0b8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2c7cbdd0b8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12c7cbdd0b8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2c7cbdd0b8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12c7cbdd0b8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2c7cbdd0b8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12c7cbdd0b8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2c7cbdd0b8_0_1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g12c7cbdd0b8_0_1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952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55" name="Google Shape;255;g12c7cbdd0b8_0_1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2c7cbdd0b8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12c7cbdd0b8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ple Purple Cover">
  <p:cSld name="TITLE_1">
    <p:bg>
      <p:bgPr>
        <a:solidFill>
          <a:schemeClr val="accen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57200" y="2831925"/>
            <a:ext cx="7329000" cy="139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lt1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457200" y="4269626"/>
            <a:ext cx="75834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FA7B17"/>
          </p15:clr>
        </p15:guide>
        <p15:guide id="2" pos="1152">
          <p15:clr>
            <a:srgbClr val="FA7B17"/>
          </p15:clr>
        </p15:guide>
        <p15:guide id="3" orient="horz" pos="1476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ple Purple Cover 1">
  <p:cSld name="TITLE_2">
    <p:bg>
      <p:bgPr>
        <a:solidFill>
          <a:schemeClr val="accen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4"/>
          <p:cNvSpPr txBox="1"/>
          <p:nvPr>
            <p:ph type="title"/>
          </p:nvPr>
        </p:nvSpPr>
        <p:spPr>
          <a:xfrm>
            <a:off x="457200" y="2831925"/>
            <a:ext cx="7329000" cy="139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lt1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457200" y="4269626"/>
            <a:ext cx="75834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FA7B17"/>
          </p15:clr>
        </p15:guide>
        <p15:guide id="2" pos="1152">
          <p15:clr>
            <a:srgbClr val="FA7B17"/>
          </p15:clr>
        </p15:guide>
        <p15:guide id="3" orient="horz" pos="1476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ple Purple Cover 2">
  <p:cSld name="TITLE_3">
    <p:bg>
      <p:bgPr>
        <a:solidFill>
          <a:srgbClr val="14C8EB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15"/>
          <p:cNvSpPr txBox="1"/>
          <p:nvPr>
            <p:ph type="title"/>
          </p:nvPr>
        </p:nvSpPr>
        <p:spPr>
          <a:xfrm>
            <a:off x="457200" y="2834644"/>
            <a:ext cx="7329000" cy="7938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" type="subTitle"/>
          </p:nvPr>
        </p:nvSpPr>
        <p:spPr>
          <a:xfrm>
            <a:off x="457200" y="4270092"/>
            <a:ext cx="75834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pic>
        <p:nvPicPr>
          <p:cNvPr id="62" name="Google Shape;62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200" y="2361463"/>
            <a:ext cx="2808299" cy="27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8">
          <p15:clr>
            <a:srgbClr val="FA7B17"/>
          </p15:clr>
        </p15:guide>
        <p15:guide id="2" pos="1152">
          <p15:clr>
            <a:srgbClr val="FA7B17"/>
          </p15:clr>
        </p15:guide>
        <p15:guide id="3" orient="horz" pos="1476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cSend logo Color">
  <p:cSld name="SECTION_TITLE_AND_DESCRIPTION_1_1_3">
    <p:bg>
      <p:bgPr>
        <a:solidFill>
          <a:srgbClr val="F7F5F2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5" name="Google Shape;65;p16"/>
          <p:cNvPicPr preferRelativeResize="0"/>
          <p:nvPr/>
        </p:nvPicPr>
        <p:blipFill rotWithShape="1">
          <a:blip r:embed="rId2">
            <a:alphaModFix/>
          </a:blip>
          <a:srcRect b="0" l="0" r="-3917" t="9"/>
          <a:stretch/>
        </p:blipFill>
        <p:spPr>
          <a:xfrm>
            <a:off x="457200" y="4778975"/>
            <a:ext cx="1150300" cy="10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8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ubtitle">
  <p:cSld name="CUSTOM_2_1_1_1">
    <p:bg>
      <p:bgPr>
        <a:solidFill>
          <a:srgbClr val="F7F5F2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487600" y="375900"/>
            <a:ext cx="7644000" cy="74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subTitle"/>
          </p:nvPr>
        </p:nvSpPr>
        <p:spPr>
          <a:xfrm>
            <a:off x="482207" y="1237541"/>
            <a:ext cx="50106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595D6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sz="1200">
                <a:solidFill>
                  <a:srgbClr val="595D62"/>
                </a:solidFill>
                <a:latin typeface="Gothic A1"/>
                <a:ea typeface="Gothic A1"/>
                <a:cs typeface="Gothic A1"/>
                <a:sym typeface="Gothic A1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sz="1200">
                <a:solidFill>
                  <a:srgbClr val="595D62"/>
                </a:solidFill>
                <a:latin typeface="Gothic A1"/>
                <a:ea typeface="Gothic A1"/>
                <a:cs typeface="Gothic A1"/>
                <a:sym typeface="Gothic A1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sz="1200">
                <a:solidFill>
                  <a:srgbClr val="595D62"/>
                </a:solidFill>
                <a:latin typeface="Gothic A1"/>
                <a:ea typeface="Gothic A1"/>
                <a:cs typeface="Gothic A1"/>
                <a:sym typeface="Gothic A1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sz="1200">
                <a:solidFill>
                  <a:srgbClr val="595D62"/>
                </a:solidFill>
                <a:latin typeface="Gothic A1"/>
                <a:ea typeface="Gothic A1"/>
                <a:cs typeface="Gothic A1"/>
                <a:sym typeface="Gothic A1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sz="1200">
                <a:solidFill>
                  <a:srgbClr val="595D62"/>
                </a:solidFill>
                <a:latin typeface="Gothic A1"/>
                <a:ea typeface="Gothic A1"/>
                <a:cs typeface="Gothic A1"/>
                <a:sym typeface="Gothic A1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sz="1200">
                <a:solidFill>
                  <a:srgbClr val="595D62"/>
                </a:solidFill>
                <a:latin typeface="Gothic A1"/>
                <a:ea typeface="Gothic A1"/>
                <a:cs typeface="Gothic A1"/>
                <a:sym typeface="Gothic A1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sz="1200">
                <a:solidFill>
                  <a:srgbClr val="595D62"/>
                </a:solidFill>
                <a:latin typeface="Gothic A1"/>
                <a:ea typeface="Gothic A1"/>
                <a:cs typeface="Gothic A1"/>
                <a:sym typeface="Gothic A1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sz="1200">
                <a:solidFill>
                  <a:srgbClr val="595D62"/>
                </a:solidFill>
                <a:latin typeface="Gothic A1"/>
                <a:ea typeface="Gothic A1"/>
                <a:cs typeface="Gothic A1"/>
                <a:sym typeface="Gothic A1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_4">
  <p:cSld name="SECTION_HEADER_4">
    <p:bg>
      <p:bgPr>
        <a:solidFill>
          <a:srgbClr val="F7F5F2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hyperlink" Target="https://www.docsend.com/features/analytics/" TargetMode="External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image" Target="../media/image5.png"/><Relationship Id="rId5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C8EB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>
            <p:ph type="title"/>
          </p:nvPr>
        </p:nvSpPr>
        <p:spPr>
          <a:xfrm>
            <a:off x="457200" y="2834644"/>
            <a:ext cx="7329000" cy="79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Helvetica"/>
                <a:ea typeface="Helvetica"/>
                <a:cs typeface="Helvetica"/>
                <a:sym typeface="Helvetica"/>
              </a:rPr>
              <a:t>Pricing Proposal Template</a:t>
            </a:r>
            <a:endParaRPr b="1">
              <a:latin typeface="Helvetica"/>
              <a:ea typeface="Helvetica"/>
              <a:cs typeface="Helvetica"/>
              <a:sym typeface="Helvetic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20"/>
          <p:cNvPicPr preferRelativeResize="0"/>
          <p:nvPr/>
        </p:nvPicPr>
        <p:blipFill rotWithShape="1">
          <a:blip r:embed="rId3">
            <a:alphaModFix/>
          </a:blip>
          <a:srcRect b="0" l="69" r="79" t="0"/>
          <a:stretch/>
        </p:blipFill>
        <p:spPr>
          <a:xfrm>
            <a:off x="478827" y="1088702"/>
            <a:ext cx="1489523" cy="14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0"/>
          <p:cNvSpPr txBox="1"/>
          <p:nvPr/>
        </p:nvSpPr>
        <p:spPr>
          <a:xfrm>
            <a:off x="3598525" y="1685153"/>
            <a:ext cx="21738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E1919"/>
                </a:solidFill>
                <a:latin typeface="Helvetica"/>
                <a:ea typeface="Helvetica"/>
                <a:cs typeface="Helvetica"/>
                <a:sym typeface="Helvetica"/>
              </a:rPr>
              <a:t>Share, track, optimize</a:t>
            </a:r>
            <a:endParaRPr b="1">
              <a:solidFill>
                <a:srgbClr val="1E1919"/>
              </a:solid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85" name="Google Shape;85;p20"/>
          <p:cNvSpPr txBox="1"/>
          <p:nvPr>
            <p:ph idx="4294967295" type="subTitle"/>
          </p:nvPr>
        </p:nvSpPr>
        <p:spPr>
          <a:xfrm>
            <a:off x="398125" y="2807875"/>
            <a:ext cx="2403600" cy="16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E1919"/>
                </a:solidFill>
                <a:latin typeface="Helvetica"/>
                <a:ea typeface="Helvetica"/>
                <a:cs typeface="Helvetica"/>
                <a:sym typeface="Helvetica"/>
              </a:rPr>
              <a:t>DocSend </a:t>
            </a:r>
            <a:r>
              <a:rPr b="1" lang="en" sz="1200" u="sng">
                <a:solidFill>
                  <a:srgbClr val="0061FE"/>
                </a:solidFill>
                <a:latin typeface="Helvetica"/>
                <a:ea typeface="Helvetica"/>
                <a:cs typeface="Helvetica"/>
                <a:sym typeface="Helvetic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document analytics</a:t>
            </a:r>
            <a:r>
              <a:rPr b="1" lang="en" sz="1200">
                <a:solidFill>
                  <a:srgbClr val="0061FE"/>
                </a:solidFill>
                <a:latin typeface="Helvetica"/>
                <a:ea typeface="Helvetica"/>
                <a:cs typeface="Helvetica"/>
                <a:sym typeface="Helvetica"/>
              </a:rPr>
              <a:t> </a:t>
            </a:r>
            <a:r>
              <a:rPr b="1" lang="en" sz="1200">
                <a:solidFill>
                  <a:srgbClr val="1E1919"/>
                </a:solidFill>
                <a:latin typeface="Helvetica"/>
                <a:ea typeface="Helvetica"/>
                <a:cs typeface="Helvetica"/>
                <a:sym typeface="Helvetica"/>
              </a:rPr>
              <a:t>gives business leaders </a:t>
            </a:r>
            <a:r>
              <a:rPr lang="en" sz="1200">
                <a:solidFill>
                  <a:srgbClr val="1E1919"/>
                </a:solidFill>
                <a:latin typeface="Helvetica"/>
                <a:ea typeface="Helvetica"/>
                <a:cs typeface="Helvetica"/>
                <a:sym typeface="Helvetica"/>
              </a:rPr>
              <a:t>actionable insight into exactly </a:t>
            </a:r>
            <a:r>
              <a:rPr i="1" lang="en" sz="1200">
                <a:solidFill>
                  <a:srgbClr val="1E1919"/>
                </a:solidFill>
                <a:latin typeface="Helvetica"/>
                <a:ea typeface="Helvetica"/>
                <a:cs typeface="Helvetica"/>
                <a:sym typeface="Helvetica"/>
              </a:rPr>
              <a:t>how</a:t>
            </a:r>
            <a:r>
              <a:rPr lang="en" sz="1200">
                <a:solidFill>
                  <a:srgbClr val="1E1919"/>
                </a:solidFill>
                <a:latin typeface="Helvetica"/>
                <a:ea typeface="Helvetica"/>
                <a:cs typeface="Helvetica"/>
                <a:sym typeface="Helvetica"/>
              </a:rPr>
              <a:t> viewers are engaging with their shared collateral.</a:t>
            </a:r>
            <a:endParaRPr sz="1200">
              <a:solidFill>
                <a:schemeClr val="dk1"/>
              </a:solidFill>
              <a:latin typeface="Helvetica"/>
              <a:ea typeface="Helvetica"/>
              <a:cs typeface="Helvetica"/>
              <a:sym typeface="Helvetica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86" name="Google Shape;86;p20"/>
          <p:cNvSpPr txBox="1"/>
          <p:nvPr/>
        </p:nvSpPr>
        <p:spPr>
          <a:xfrm>
            <a:off x="3598525" y="2875678"/>
            <a:ext cx="21738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E1919"/>
                </a:solidFill>
                <a:latin typeface="Helvetica"/>
                <a:ea typeface="Helvetica"/>
                <a:cs typeface="Helvetica"/>
                <a:sym typeface="Helvetica"/>
              </a:rPr>
              <a:t>Uncover stakeholders</a:t>
            </a:r>
            <a:endParaRPr b="1">
              <a:solidFill>
                <a:srgbClr val="1E1919"/>
              </a:solid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87" name="Google Shape;87;p20"/>
          <p:cNvSpPr txBox="1"/>
          <p:nvPr/>
        </p:nvSpPr>
        <p:spPr>
          <a:xfrm>
            <a:off x="3598525" y="4018678"/>
            <a:ext cx="21738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E1919"/>
                </a:solidFill>
                <a:latin typeface="Helvetica"/>
                <a:ea typeface="Helvetica"/>
                <a:cs typeface="Helvetica"/>
                <a:sym typeface="Helvetica"/>
              </a:rPr>
              <a:t>Follow up intelligently</a:t>
            </a:r>
            <a:endParaRPr b="1">
              <a:solidFill>
                <a:srgbClr val="1E1919"/>
              </a:solid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88" name="Google Shape;88;p20"/>
          <p:cNvSpPr txBox="1"/>
          <p:nvPr/>
        </p:nvSpPr>
        <p:spPr>
          <a:xfrm>
            <a:off x="6494125" y="1532578"/>
            <a:ext cx="2173800" cy="8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E1919"/>
                </a:solidFill>
                <a:latin typeface="Helvetica"/>
                <a:ea typeface="Helvetica"/>
                <a:cs typeface="Helvetica"/>
                <a:sym typeface="Helvetica"/>
              </a:rPr>
              <a:t>Collect real-time document-level analytics to track top performing pages, average completion percentage, and document version performance.</a:t>
            </a:r>
            <a:endParaRPr sz="1000">
              <a:solidFill>
                <a:srgbClr val="1E1919"/>
              </a:solid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89" name="Google Shape;89;p20"/>
          <p:cNvSpPr txBox="1"/>
          <p:nvPr/>
        </p:nvSpPr>
        <p:spPr>
          <a:xfrm>
            <a:off x="6494125" y="2675578"/>
            <a:ext cx="21738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E1919"/>
                </a:solidFill>
                <a:latin typeface="Helvetica"/>
                <a:ea typeface="Helvetica"/>
                <a:cs typeface="Helvetica"/>
                <a:sym typeface="Helvetica"/>
              </a:rPr>
              <a:t>Track which links have been forwarded to someone that you haven’t engaged with yet, and enable email verification to identify them. </a:t>
            </a:r>
            <a:endParaRPr sz="1000">
              <a:solidFill>
                <a:srgbClr val="1E1919"/>
              </a:solid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90" name="Google Shape;90;p20"/>
          <p:cNvSpPr txBox="1"/>
          <p:nvPr/>
        </p:nvSpPr>
        <p:spPr>
          <a:xfrm>
            <a:off x="6494125" y="3818578"/>
            <a:ext cx="21738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E1919"/>
                </a:solidFill>
                <a:latin typeface="Helvetica"/>
                <a:ea typeface="Helvetica"/>
                <a:cs typeface="Helvetica"/>
                <a:sym typeface="Helvetica"/>
              </a:rPr>
              <a:t>Analyze page-by-page insights for each viewer of a document to learn their unique interests, and tailor your follow-up accordingly.</a:t>
            </a:r>
            <a:endParaRPr sz="600">
              <a:solidFill>
                <a:srgbClr val="1E1919"/>
              </a:solid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91" name="Google Shape;91;p20"/>
          <p:cNvSpPr/>
          <p:nvPr/>
        </p:nvSpPr>
        <p:spPr>
          <a:xfrm>
            <a:off x="5950150" y="1503200"/>
            <a:ext cx="281700" cy="659700"/>
          </a:xfrm>
          <a:prstGeom prst="homePlate">
            <a:avLst>
              <a:gd fmla="val 100000" name="adj"/>
            </a:avLst>
          </a:prstGeom>
          <a:solidFill>
            <a:srgbClr val="14C8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0"/>
          <p:cNvSpPr/>
          <p:nvPr/>
        </p:nvSpPr>
        <p:spPr>
          <a:xfrm>
            <a:off x="5950150" y="2685171"/>
            <a:ext cx="281700" cy="659700"/>
          </a:xfrm>
          <a:prstGeom prst="homePlate">
            <a:avLst>
              <a:gd fmla="val 100000" name="adj"/>
            </a:avLst>
          </a:prstGeom>
          <a:solidFill>
            <a:srgbClr val="14C8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0"/>
          <p:cNvSpPr/>
          <p:nvPr/>
        </p:nvSpPr>
        <p:spPr>
          <a:xfrm>
            <a:off x="5950150" y="3824277"/>
            <a:ext cx="281700" cy="659700"/>
          </a:xfrm>
          <a:prstGeom prst="homePlate">
            <a:avLst>
              <a:gd fmla="val 100000" name="adj"/>
            </a:avLst>
          </a:prstGeom>
          <a:solidFill>
            <a:srgbClr val="14C8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15888" y="2336655"/>
            <a:ext cx="470166" cy="4702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0"/>
          <p:cNvSpPr txBox="1"/>
          <p:nvPr/>
        </p:nvSpPr>
        <p:spPr>
          <a:xfrm>
            <a:off x="9960025" y="-435950"/>
            <a:ext cx="69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x3</a:t>
            </a:r>
            <a:endParaRPr/>
          </a:p>
        </p:txBody>
      </p:sp>
      <p:sp>
        <p:nvSpPr>
          <p:cNvPr id="96" name="Google Shape;96;p20"/>
          <p:cNvSpPr txBox="1"/>
          <p:nvPr/>
        </p:nvSpPr>
        <p:spPr>
          <a:xfrm>
            <a:off x="467125" y="328450"/>
            <a:ext cx="67677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Helvetica"/>
                <a:ea typeface="Helvetica"/>
                <a:cs typeface="Helvetica"/>
                <a:sym typeface="Helvetica"/>
              </a:rPr>
              <a:t>Why format it this way?</a:t>
            </a:r>
            <a:endParaRPr b="1" sz="3000">
              <a:solidFill>
                <a:schemeClr val="dk1"/>
              </a:solidFill>
              <a:latin typeface="Helvetica"/>
              <a:ea typeface="Helvetica"/>
              <a:cs typeface="Helvetica"/>
              <a:sym typeface="Helvetic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"/>
              <a:ea typeface="Helvetica"/>
              <a:cs typeface="Helvetica"/>
              <a:sym typeface="Helvetica"/>
            </a:endParaRPr>
          </a:p>
        </p:txBody>
      </p:sp>
      <p:pic>
        <p:nvPicPr>
          <p:cNvPr id="97" name="Google Shape;9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15893" y="3454728"/>
            <a:ext cx="470150" cy="470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15900" y="1218625"/>
            <a:ext cx="470150" cy="4701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/>
          <p:nvPr/>
        </p:nvSpPr>
        <p:spPr>
          <a:xfrm>
            <a:off x="5097850" y="328450"/>
            <a:ext cx="3635100" cy="554400"/>
          </a:xfrm>
          <a:prstGeom prst="rect">
            <a:avLst/>
          </a:prstGeom>
          <a:solidFill>
            <a:srgbClr val="14C8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0"/>
          <p:cNvSpPr txBox="1"/>
          <p:nvPr/>
        </p:nvSpPr>
        <p:spPr>
          <a:xfrm>
            <a:off x="5256200" y="421000"/>
            <a:ext cx="323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Helvetica"/>
                <a:ea typeface="Helvetica"/>
                <a:cs typeface="Helvetica"/>
                <a:sym typeface="Helvetica"/>
              </a:rPr>
              <a:t>Placeholder slide only. DO NOT USE.</a:t>
            </a:r>
            <a:endParaRPr sz="1200">
              <a:solidFill>
                <a:schemeClr val="lt1"/>
              </a:solidFill>
              <a:latin typeface="Helvetica"/>
              <a:ea typeface="Helvetica"/>
              <a:cs typeface="Helvetica"/>
              <a:sym typeface="Helvetic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C8EB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457200" y="579700"/>
            <a:ext cx="7921200" cy="79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Helvetica"/>
                <a:ea typeface="Helvetica"/>
                <a:cs typeface="Helvetica"/>
                <a:sym typeface="Helvetica"/>
              </a:rPr>
              <a:t>STOP:</a:t>
            </a:r>
            <a:r>
              <a:rPr lang="en">
                <a:latin typeface="Helvetica"/>
                <a:ea typeface="Helvetica"/>
                <a:cs typeface="Helvetica"/>
                <a:sym typeface="Helvetica"/>
              </a:rPr>
              <a:t> MAKE A COPY OF THIS DECK BEFORE YOU START</a:t>
            </a:r>
            <a:endParaRPr>
              <a:latin typeface="Helvetica"/>
              <a:ea typeface="Helvetica"/>
              <a:cs typeface="Helvetica"/>
              <a:sym typeface="Helvetica"/>
            </a:endParaRPr>
          </a:p>
        </p:txBody>
      </p:sp>
      <p:grpSp>
        <p:nvGrpSpPr>
          <p:cNvPr id="106" name="Google Shape;106;p21"/>
          <p:cNvGrpSpPr/>
          <p:nvPr/>
        </p:nvGrpSpPr>
        <p:grpSpPr>
          <a:xfrm>
            <a:off x="457200" y="2948623"/>
            <a:ext cx="4868700" cy="666720"/>
            <a:chOff x="457200" y="637775"/>
            <a:chExt cx="4868700" cy="1376100"/>
          </a:xfrm>
        </p:grpSpPr>
        <p:sp>
          <p:nvSpPr>
            <p:cNvPr id="107" name="Google Shape;107;p21"/>
            <p:cNvSpPr/>
            <p:nvPr/>
          </p:nvSpPr>
          <p:spPr>
            <a:xfrm>
              <a:off x="457200" y="637775"/>
              <a:ext cx="4868700" cy="1376100"/>
            </a:xfrm>
            <a:prstGeom prst="rect">
              <a:avLst/>
            </a:prstGeom>
            <a:solidFill>
              <a:srgbClr val="007891"/>
            </a:solidFill>
            <a:ln cap="flat" cmpd="sng" w="9525">
              <a:solidFill>
                <a:srgbClr val="5F616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21"/>
            <p:cNvSpPr txBox="1"/>
            <p:nvPr/>
          </p:nvSpPr>
          <p:spPr>
            <a:xfrm>
              <a:off x="505950" y="637775"/>
              <a:ext cx="4771200" cy="1200900"/>
            </a:xfrm>
            <a:prstGeom prst="rect">
              <a:avLst/>
            </a:prstGeom>
            <a:solidFill>
              <a:srgbClr val="00789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91A1B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lt1"/>
                  </a:solidFill>
                  <a:latin typeface="Helvetica"/>
                  <a:ea typeface="Helvetica"/>
                  <a:cs typeface="Helvetica"/>
                  <a:sym typeface="Helvetica"/>
                </a:rPr>
                <a:t>Make a copy of this deck, edit all page elements (headlines, body text, image/graph block &amp; logo placement) as you see fit.</a:t>
              </a:r>
              <a:endParaRPr sz="1200">
                <a:solidFill>
                  <a:schemeClr val="lt1"/>
                </a:solidFill>
                <a:latin typeface="Helvetica"/>
                <a:ea typeface="Helvetica"/>
                <a:cs typeface="Helvetica"/>
                <a:sym typeface="Helvetica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413250" y="678239"/>
            <a:ext cx="4706700" cy="136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Helvetica"/>
                <a:ea typeface="Helvetica"/>
                <a:cs typeface="Helvetica"/>
                <a:sym typeface="Helvetica"/>
              </a:rPr>
              <a:t>[Logo]</a:t>
            </a:r>
            <a:endParaRPr b="1" sz="3600">
              <a:solidFill>
                <a:schemeClr val="dk1"/>
              </a:solidFill>
              <a:latin typeface="Helvetica"/>
              <a:ea typeface="Helvetica"/>
              <a:cs typeface="Helvetica"/>
              <a:sym typeface="Helvet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Helvetica"/>
                <a:ea typeface="Helvetica"/>
                <a:cs typeface="Helvetica"/>
                <a:sym typeface="Helvetica"/>
              </a:rPr>
              <a:t>[Company]</a:t>
            </a:r>
            <a:endParaRPr b="1" sz="3600">
              <a:solidFill>
                <a:schemeClr val="dk1"/>
              </a:solidFill>
              <a:latin typeface="Helvetica"/>
              <a:ea typeface="Helvetica"/>
              <a:cs typeface="Helvetica"/>
              <a:sym typeface="Helvet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</p:txBody>
      </p:sp>
      <p:sp>
        <p:nvSpPr>
          <p:cNvPr id="114" name="Google Shape;114;p22"/>
          <p:cNvSpPr/>
          <p:nvPr/>
        </p:nvSpPr>
        <p:spPr>
          <a:xfrm>
            <a:off x="4505325" y="552450"/>
            <a:ext cx="4038600" cy="4038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2"/>
          <p:cNvSpPr txBox="1"/>
          <p:nvPr/>
        </p:nvSpPr>
        <p:spPr>
          <a:xfrm>
            <a:off x="6154575" y="2379450"/>
            <a:ext cx="7401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 image</a:t>
            </a:r>
            <a:endParaRPr sz="1100">
              <a:solidFill>
                <a:srgbClr val="9999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" name="Google Shape;116;p22"/>
          <p:cNvSpPr txBox="1"/>
          <p:nvPr/>
        </p:nvSpPr>
        <p:spPr>
          <a:xfrm>
            <a:off x="1511300" y="4541700"/>
            <a:ext cx="2352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Confidential | Last updated [mm/dd/yy]</a:t>
            </a:r>
            <a:endParaRPr sz="10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17" name="Google Shape;117;p22"/>
          <p:cNvGrpSpPr/>
          <p:nvPr/>
        </p:nvGrpSpPr>
        <p:grpSpPr>
          <a:xfrm>
            <a:off x="457200" y="4461450"/>
            <a:ext cx="919500" cy="314400"/>
            <a:chOff x="457200" y="4461450"/>
            <a:chExt cx="919500" cy="314400"/>
          </a:xfrm>
        </p:grpSpPr>
        <p:sp>
          <p:nvSpPr>
            <p:cNvPr id="118" name="Google Shape;118;p22"/>
            <p:cNvSpPr/>
            <p:nvPr/>
          </p:nvSpPr>
          <p:spPr>
            <a:xfrm>
              <a:off x="457200" y="4461450"/>
              <a:ext cx="919500" cy="3144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2"/>
            <p:cNvSpPr txBox="1"/>
            <p:nvPr/>
          </p:nvSpPr>
          <p:spPr>
            <a:xfrm>
              <a:off x="546900" y="4529400"/>
              <a:ext cx="740100" cy="1785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rgbClr val="666666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Your logo</a:t>
              </a:r>
              <a:endParaRPr sz="11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20" name="Google Shape;120;p22"/>
          <p:cNvSpPr txBox="1"/>
          <p:nvPr/>
        </p:nvSpPr>
        <p:spPr>
          <a:xfrm>
            <a:off x="413250" y="2144805"/>
            <a:ext cx="47067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50">
                <a:solidFill>
                  <a:srgbClr val="1E1919"/>
                </a:solidFill>
                <a:latin typeface="Helvetica"/>
                <a:ea typeface="Helvetica"/>
                <a:cs typeface="Helvetica"/>
                <a:sym typeface="Helvetica"/>
              </a:rPr>
              <a:t>Pricing Proposal - [mm/dd/yy] </a:t>
            </a:r>
            <a:endParaRPr sz="1950">
              <a:solidFill>
                <a:srgbClr val="1E1919"/>
              </a:solidFill>
              <a:latin typeface="Helvetica"/>
              <a:ea typeface="Helvetica"/>
              <a:cs typeface="Helvetica"/>
              <a:sym typeface="Helvet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FFFFFF"/>
              </a:solidFill>
              <a:latin typeface="Playfair Display Black"/>
              <a:ea typeface="Playfair Display Black"/>
              <a:cs typeface="Playfair Display Black"/>
              <a:sym typeface="Playfair Display Black"/>
            </a:endParaRPr>
          </a:p>
        </p:txBody>
      </p:sp>
      <p:sp>
        <p:nvSpPr>
          <p:cNvPr id="121" name="Google Shape;121;p22"/>
          <p:cNvSpPr txBox="1"/>
          <p:nvPr/>
        </p:nvSpPr>
        <p:spPr>
          <a:xfrm>
            <a:off x="413250" y="2672625"/>
            <a:ext cx="345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E1919"/>
                </a:solidFill>
                <a:latin typeface="Helvetica"/>
                <a:ea typeface="Helvetica"/>
                <a:cs typeface="Helvetica"/>
                <a:sym typeface="Helvetica"/>
              </a:rPr>
              <a:t>[Name, Position, Email]</a:t>
            </a:r>
            <a:endParaRPr sz="1600">
              <a:solidFill>
                <a:srgbClr val="FFFFFF"/>
              </a:solidFill>
              <a:latin typeface="Playfair Display Black"/>
              <a:ea typeface="Playfair Display Black"/>
              <a:cs typeface="Playfair Display Black"/>
              <a:sym typeface="Playfair Display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/>
        </p:nvSpPr>
        <p:spPr>
          <a:xfrm>
            <a:off x="488531" y="1257309"/>
            <a:ext cx="34215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E1919"/>
                </a:solidFill>
                <a:latin typeface="Helvetica"/>
                <a:ea typeface="Helvetica"/>
                <a:cs typeface="Helvetica"/>
                <a:sym typeface="Helvetica"/>
              </a:rPr>
              <a:t>1</a:t>
            </a:r>
            <a:r>
              <a:rPr lang="en" sz="1500">
                <a:solidFill>
                  <a:srgbClr val="1E1919"/>
                </a:solidFill>
                <a:latin typeface="Helvetica"/>
                <a:ea typeface="Helvetica"/>
                <a:cs typeface="Helvetica"/>
                <a:sym typeface="Helvetica"/>
              </a:rPr>
              <a:t>. </a:t>
            </a:r>
            <a:r>
              <a:rPr lang="en" sz="1500">
                <a:solidFill>
                  <a:srgbClr val="1E1919"/>
                </a:solidFill>
                <a:latin typeface="Helvetica"/>
                <a:ea typeface="Helvetica"/>
                <a:cs typeface="Helvetica"/>
                <a:sym typeface="Helvetica"/>
              </a:rPr>
              <a:t>Vision &amp; Mission Statement</a:t>
            </a:r>
            <a:endParaRPr sz="1500"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127" name="Google Shape;127;p23"/>
          <p:cNvSpPr txBox="1"/>
          <p:nvPr/>
        </p:nvSpPr>
        <p:spPr>
          <a:xfrm>
            <a:off x="488531" y="1822137"/>
            <a:ext cx="34215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500">
                <a:solidFill>
                  <a:srgbClr val="1E1919"/>
                </a:solidFill>
                <a:latin typeface="Helvetica"/>
                <a:ea typeface="Helvetica"/>
                <a:cs typeface="Helvetica"/>
                <a:sym typeface="Helvetica"/>
              </a:rPr>
              <a:t>2. </a:t>
            </a:r>
            <a:r>
              <a:rPr lang="en" sz="1500">
                <a:solidFill>
                  <a:srgbClr val="1E1919"/>
                </a:solidFill>
                <a:latin typeface="Helvetica"/>
                <a:ea typeface="Helvetica"/>
                <a:cs typeface="Helvetica"/>
                <a:sym typeface="Helvetica"/>
              </a:rPr>
              <a:t>Our Team</a:t>
            </a:r>
            <a:endParaRPr sz="1500"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128" name="Google Shape;128;p23"/>
          <p:cNvSpPr txBox="1"/>
          <p:nvPr/>
        </p:nvSpPr>
        <p:spPr>
          <a:xfrm>
            <a:off x="488531" y="2393485"/>
            <a:ext cx="34215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500">
                <a:solidFill>
                  <a:srgbClr val="1E1919"/>
                </a:solidFill>
                <a:latin typeface="Helvetica"/>
                <a:ea typeface="Helvetica"/>
                <a:cs typeface="Helvetica"/>
                <a:sym typeface="Helvetica"/>
              </a:rPr>
              <a:t>3. </a:t>
            </a:r>
            <a:r>
              <a:rPr lang="en" sz="1500">
                <a:solidFill>
                  <a:srgbClr val="1E1919"/>
                </a:solidFill>
                <a:latin typeface="Helvetica"/>
                <a:ea typeface="Helvetica"/>
                <a:cs typeface="Helvetica"/>
                <a:sym typeface="Helvetica"/>
              </a:rPr>
              <a:t>Our Clients</a:t>
            </a:r>
            <a:endParaRPr sz="1500"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129" name="Google Shape;129;p23"/>
          <p:cNvSpPr txBox="1"/>
          <p:nvPr/>
        </p:nvSpPr>
        <p:spPr>
          <a:xfrm>
            <a:off x="488531" y="2975788"/>
            <a:ext cx="34215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500">
                <a:solidFill>
                  <a:srgbClr val="1E1919"/>
                </a:solidFill>
                <a:latin typeface="Helvetica"/>
                <a:ea typeface="Helvetica"/>
                <a:cs typeface="Helvetica"/>
                <a:sym typeface="Helvetica"/>
              </a:rPr>
              <a:t>4. </a:t>
            </a:r>
            <a:r>
              <a:rPr lang="en" sz="1500">
                <a:solidFill>
                  <a:srgbClr val="1E1919"/>
                </a:solidFill>
                <a:latin typeface="Helvetica"/>
                <a:ea typeface="Helvetica"/>
                <a:cs typeface="Helvetica"/>
                <a:sym typeface="Helvetica"/>
              </a:rPr>
              <a:t>Our Services</a:t>
            </a:r>
            <a:endParaRPr sz="1500"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130" name="Google Shape;130;p23"/>
          <p:cNvSpPr txBox="1"/>
          <p:nvPr/>
        </p:nvSpPr>
        <p:spPr>
          <a:xfrm>
            <a:off x="4625903" y="1257309"/>
            <a:ext cx="34215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500">
                <a:solidFill>
                  <a:srgbClr val="1E1919"/>
                </a:solidFill>
                <a:latin typeface="Helvetica"/>
                <a:ea typeface="Helvetica"/>
                <a:cs typeface="Helvetica"/>
                <a:sym typeface="Helvetica"/>
              </a:rPr>
              <a:t>5. </a:t>
            </a:r>
            <a:r>
              <a:rPr lang="en" sz="1500">
                <a:solidFill>
                  <a:srgbClr val="1E1919"/>
                </a:solidFill>
                <a:latin typeface="Helvetica"/>
                <a:ea typeface="Helvetica"/>
                <a:cs typeface="Helvetica"/>
                <a:sym typeface="Helvetica"/>
              </a:rPr>
              <a:t>Our Prices</a:t>
            </a:r>
            <a:endParaRPr sz="1500"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131" name="Google Shape;131;p23"/>
          <p:cNvSpPr txBox="1"/>
          <p:nvPr/>
        </p:nvSpPr>
        <p:spPr>
          <a:xfrm>
            <a:off x="4625903" y="1822137"/>
            <a:ext cx="34215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500">
                <a:solidFill>
                  <a:srgbClr val="1E1919"/>
                </a:solidFill>
                <a:latin typeface="Helvetica"/>
                <a:ea typeface="Helvetica"/>
                <a:cs typeface="Helvetica"/>
                <a:sym typeface="Helvetica"/>
              </a:rPr>
              <a:t>6. </a:t>
            </a:r>
            <a:r>
              <a:rPr lang="en" sz="1500">
                <a:solidFill>
                  <a:srgbClr val="1E1919"/>
                </a:solidFill>
                <a:latin typeface="Helvetica"/>
                <a:ea typeface="Helvetica"/>
                <a:cs typeface="Helvetica"/>
                <a:sym typeface="Helvetica"/>
              </a:rPr>
              <a:t>Proposal Objective</a:t>
            </a:r>
            <a:endParaRPr sz="1500"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132" name="Google Shape;132;p23"/>
          <p:cNvSpPr txBox="1"/>
          <p:nvPr/>
        </p:nvSpPr>
        <p:spPr>
          <a:xfrm>
            <a:off x="4625903" y="2393485"/>
            <a:ext cx="34215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500">
                <a:solidFill>
                  <a:srgbClr val="1E1919"/>
                </a:solidFill>
                <a:latin typeface="Helvetica"/>
                <a:ea typeface="Helvetica"/>
                <a:cs typeface="Helvetica"/>
                <a:sym typeface="Helvetica"/>
              </a:rPr>
              <a:t>7. </a:t>
            </a:r>
            <a:r>
              <a:rPr lang="en" sz="1500">
                <a:solidFill>
                  <a:srgbClr val="1E1919"/>
                </a:solidFill>
                <a:latin typeface="Helvetica"/>
                <a:ea typeface="Helvetica"/>
                <a:cs typeface="Helvetica"/>
                <a:sym typeface="Helvetica"/>
              </a:rPr>
              <a:t>Proposal Timeline</a:t>
            </a:r>
            <a:endParaRPr sz="1500"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133" name="Google Shape;133;p23"/>
          <p:cNvSpPr txBox="1"/>
          <p:nvPr/>
        </p:nvSpPr>
        <p:spPr>
          <a:xfrm>
            <a:off x="4625903" y="2975788"/>
            <a:ext cx="34215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500">
                <a:solidFill>
                  <a:srgbClr val="1E1919"/>
                </a:solidFill>
                <a:latin typeface="Helvetica"/>
                <a:ea typeface="Helvetica"/>
                <a:cs typeface="Helvetica"/>
                <a:sym typeface="Helvetica"/>
              </a:rPr>
              <a:t>8. </a:t>
            </a:r>
            <a:r>
              <a:rPr lang="en" sz="1500">
                <a:solidFill>
                  <a:srgbClr val="1E1919"/>
                </a:solidFill>
                <a:latin typeface="Helvetica"/>
                <a:ea typeface="Helvetica"/>
                <a:cs typeface="Helvetica"/>
                <a:sym typeface="Helvetica"/>
              </a:rPr>
              <a:t>Investment Breakdown</a:t>
            </a:r>
            <a:endParaRPr sz="1500"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134" name="Google Shape;134;p23"/>
          <p:cNvSpPr txBox="1"/>
          <p:nvPr/>
        </p:nvSpPr>
        <p:spPr>
          <a:xfrm>
            <a:off x="9960025" y="-435950"/>
            <a:ext cx="69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x2</a:t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457200" y="300702"/>
            <a:ext cx="6264300" cy="7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chemeClr val="dk1"/>
                </a:solidFill>
                <a:latin typeface="Helvetica"/>
                <a:ea typeface="Helvetica"/>
                <a:cs typeface="Helvetica"/>
                <a:sym typeface="Helvetica"/>
              </a:rPr>
              <a:t>Table of Contents</a:t>
            </a:r>
            <a:endParaRPr b="1" sz="3400">
              <a:solidFill>
                <a:schemeClr val="dk1"/>
              </a:solidFill>
              <a:latin typeface="Helvetica"/>
              <a:ea typeface="Helvetica"/>
              <a:cs typeface="Helvetica"/>
              <a:sym typeface="Helvetic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"/>
              <a:ea typeface="Helvetica"/>
              <a:cs typeface="Helvetica"/>
              <a:sym typeface="Helvetica"/>
            </a:endParaRPr>
          </a:p>
        </p:txBody>
      </p:sp>
      <p:grpSp>
        <p:nvGrpSpPr>
          <p:cNvPr id="136" name="Google Shape;136;p23"/>
          <p:cNvGrpSpPr/>
          <p:nvPr/>
        </p:nvGrpSpPr>
        <p:grpSpPr>
          <a:xfrm>
            <a:off x="457200" y="4461450"/>
            <a:ext cx="919500" cy="314400"/>
            <a:chOff x="457200" y="4461450"/>
            <a:chExt cx="919500" cy="314400"/>
          </a:xfrm>
        </p:grpSpPr>
        <p:sp>
          <p:nvSpPr>
            <p:cNvPr id="137" name="Google Shape;137;p23"/>
            <p:cNvSpPr/>
            <p:nvPr/>
          </p:nvSpPr>
          <p:spPr>
            <a:xfrm>
              <a:off x="457200" y="4461450"/>
              <a:ext cx="919500" cy="3144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23"/>
            <p:cNvSpPr txBox="1"/>
            <p:nvPr/>
          </p:nvSpPr>
          <p:spPr>
            <a:xfrm>
              <a:off x="546900" y="4529400"/>
              <a:ext cx="740100" cy="1785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rgbClr val="666666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Your logo</a:t>
              </a:r>
              <a:endParaRPr sz="11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39" name="Google Shape;139;p23"/>
          <p:cNvSpPr txBox="1"/>
          <p:nvPr/>
        </p:nvSpPr>
        <p:spPr>
          <a:xfrm>
            <a:off x="1511300" y="4541700"/>
            <a:ext cx="2352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Confidential | Last updated [mm/dd/yy]</a:t>
            </a:r>
            <a:endParaRPr sz="10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type="title"/>
          </p:nvPr>
        </p:nvSpPr>
        <p:spPr>
          <a:xfrm>
            <a:off x="457200" y="256050"/>
            <a:ext cx="664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3400">
                <a:solidFill>
                  <a:schemeClr val="dk1"/>
                </a:solidFill>
                <a:latin typeface="Helvetica"/>
                <a:ea typeface="Helvetica"/>
                <a:cs typeface="Helvetica"/>
                <a:sym typeface="Helvetica"/>
              </a:rPr>
              <a:t>V</a:t>
            </a:r>
            <a:r>
              <a:rPr b="1" lang="en" sz="3400">
                <a:solidFill>
                  <a:schemeClr val="dk1"/>
                </a:solidFill>
                <a:latin typeface="Helvetica"/>
                <a:ea typeface="Helvetica"/>
                <a:cs typeface="Helvetica"/>
                <a:sym typeface="Helvetica"/>
              </a:rPr>
              <a:t>ision &amp; Mission </a:t>
            </a:r>
            <a:endParaRPr b="1" sz="3400">
              <a:solidFill>
                <a:schemeClr val="dk1"/>
              </a:solid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146" name="Google Shape;146;p24"/>
          <p:cNvSpPr txBox="1"/>
          <p:nvPr/>
        </p:nvSpPr>
        <p:spPr>
          <a:xfrm>
            <a:off x="457200" y="3655325"/>
            <a:ext cx="5806500" cy="569400"/>
          </a:xfrm>
          <a:prstGeom prst="rect">
            <a:avLst/>
          </a:prstGeom>
          <a:solidFill>
            <a:srgbClr val="14C8E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EEFEFB"/>
                </a:solidFill>
              </a:rPr>
              <a:t>Share with potential customers what your work is all about. Highlight your vision, mission, and passion for what you do. </a:t>
            </a:r>
            <a:endParaRPr/>
          </a:p>
        </p:txBody>
      </p:sp>
      <p:grpSp>
        <p:nvGrpSpPr>
          <p:cNvPr id="147" name="Google Shape;147;p24"/>
          <p:cNvGrpSpPr/>
          <p:nvPr/>
        </p:nvGrpSpPr>
        <p:grpSpPr>
          <a:xfrm>
            <a:off x="457200" y="4461450"/>
            <a:ext cx="919500" cy="314400"/>
            <a:chOff x="457200" y="4461450"/>
            <a:chExt cx="919500" cy="314400"/>
          </a:xfrm>
        </p:grpSpPr>
        <p:sp>
          <p:nvSpPr>
            <p:cNvPr id="148" name="Google Shape;148;p24"/>
            <p:cNvSpPr/>
            <p:nvPr/>
          </p:nvSpPr>
          <p:spPr>
            <a:xfrm>
              <a:off x="457200" y="4461450"/>
              <a:ext cx="919500" cy="3144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24"/>
            <p:cNvSpPr txBox="1"/>
            <p:nvPr/>
          </p:nvSpPr>
          <p:spPr>
            <a:xfrm>
              <a:off x="546900" y="4529400"/>
              <a:ext cx="740100" cy="1785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rgbClr val="666666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Your logo</a:t>
              </a:r>
              <a:endParaRPr sz="11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50" name="Google Shape;150;p24"/>
          <p:cNvSpPr txBox="1"/>
          <p:nvPr/>
        </p:nvSpPr>
        <p:spPr>
          <a:xfrm>
            <a:off x="1511300" y="4541700"/>
            <a:ext cx="2352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Confidential | Last updated [mm/dd/yy]</a:t>
            </a:r>
            <a:endParaRPr sz="10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/>
          <p:nvPr/>
        </p:nvSpPr>
        <p:spPr>
          <a:xfrm>
            <a:off x="467125" y="328450"/>
            <a:ext cx="67677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Helvetica"/>
                <a:ea typeface="Helvetica"/>
                <a:cs typeface="Helvetica"/>
                <a:sym typeface="Helvetica"/>
              </a:rPr>
              <a:t>Our Team</a:t>
            </a:r>
            <a:endParaRPr b="1" sz="3000">
              <a:solidFill>
                <a:schemeClr val="dk1"/>
              </a:solidFill>
              <a:latin typeface="Helvetica"/>
              <a:ea typeface="Helvetica"/>
              <a:cs typeface="Helvetica"/>
              <a:sym typeface="Helvetic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157" name="Google Shape;157;p25"/>
          <p:cNvSpPr txBox="1"/>
          <p:nvPr/>
        </p:nvSpPr>
        <p:spPr>
          <a:xfrm>
            <a:off x="457200" y="3773613"/>
            <a:ext cx="5806500" cy="569400"/>
          </a:xfrm>
          <a:prstGeom prst="rect">
            <a:avLst/>
          </a:prstGeom>
          <a:solidFill>
            <a:srgbClr val="14C8E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EEFEFB"/>
                </a:solidFill>
              </a:rPr>
              <a:t>Introduce your team. Include names, titles, and how each person will interact with your potential client.</a:t>
            </a:r>
            <a:endParaRPr/>
          </a:p>
        </p:txBody>
      </p:sp>
      <p:grpSp>
        <p:nvGrpSpPr>
          <p:cNvPr id="158" name="Google Shape;158;p25"/>
          <p:cNvGrpSpPr/>
          <p:nvPr/>
        </p:nvGrpSpPr>
        <p:grpSpPr>
          <a:xfrm>
            <a:off x="457200" y="4461450"/>
            <a:ext cx="919500" cy="314400"/>
            <a:chOff x="457200" y="4461450"/>
            <a:chExt cx="919500" cy="314400"/>
          </a:xfrm>
        </p:grpSpPr>
        <p:sp>
          <p:nvSpPr>
            <p:cNvPr id="159" name="Google Shape;159;p25"/>
            <p:cNvSpPr/>
            <p:nvPr/>
          </p:nvSpPr>
          <p:spPr>
            <a:xfrm>
              <a:off x="457200" y="4461450"/>
              <a:ext cx="919500" cy="3144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25"/>
            <p:cNvSpPr txBox="1"/>
            <p:nvPr/>
          </p:nvSpPr>
          <p:spPr>
            <a:xfrm>
              <a:off x="546900" y="4529400"/>
              <a:ext cx="740100" cy="1785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rgbClr val="666666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Your logo</a:t>
              </a:r>
              <a:endParaRPr sz="11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61" name="Google Shape;161;p25"/>
          <p:cNvSpPr txBox="1"/>
          <p:nvPr/>
        </p:nvSpPr>
        <p:spPr>
          <a:xfrm>
            <a:off x="1511300" y="4541700"/>
            <a:ext cx="2352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Confidential | Last updated [mm/dd/yy]</a:t>
            </a:r>
            <a:endParaRPr sz="10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62" name="Google Shape;162;p25"/>
          <p:cNvPicPr preferRelativeResize="0"/>
          <p:nvPr/>
        </p:nvPicPr>
        <p:blipFill rotWithShape="1">
          <a:blip r:embed="rId3">
            <a:alphaModFix/>
          </a:blip>
          <a:srcRect b="14270" l="6985" r="3577" t="3715"/>
          <a:stretch/>
        </p:blipFill>
        <p:spPr>
          <a:xfrm>
            <a:off x="467125" y="936750"/>
            <a:ext cx="2174908" cy="1994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5"/>
          <p:cNvPicPr preferRelativeResize="0"/>
          <p:nvPr/>
        </p:nvPicPr>
        <p:blipFill rotWithShape="1">
          <a:blip r:embed="rId4">
            <a:alphaModFix/>
          </a:blip>
          <a:srcRect b="22373" l="16807" r="16813" t="14989"/>
          <a:stretch/>
        </p:blipFill>
        <p:spPr>
          <a:xfrm>
            <a:off x="2899046" y="936750"/>
            <a:ext cx="2174909" cy="1994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5"/>
          <p:cNvPicPr preferRelativeResize="0"/>
          <p:nvPr/>
        </p:nvPicPr>
        <p:blipFill rotWithShape="1">
          <a:blip r:embed="rId5">
            <a:alphaModFix/>
          </a:blip>
          <a:srcRect b="8298" l="0" r="0" t="0"/>
          <a:stretch/>
        </p:blipFill>
        <p:spPr>
          <a:xfrm>
            <a:off x="5317035" y="936750"/>
            <a:ext cx="2174874" cy="199438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5"/>
          <p:cNvSpPr txBox="1"/>
          <p:nvPr/>
        </p:nvSpPr>
        <p:spPr>
          <a:xfrm>
            <a:off x="480859" y="2930080"/>
            <a:ext cx="2175300" cy="6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Helvetica"/>
                <a:ea typeface="Helvetica"/>
                <a:cs typeface="Helvetica"/>
                <a:sym typeface="Helvetica"/>
              </a:rPr>
              <a:t>First Name </a:t>
            </a:r>
            <a:endParaRPr sz="1200">
              <a:solidFill>
                <a:schemeClr val="dk1"/>
              </a:solidFill>
              <a:latin typeface="Helvetica"/>
              <a:ea typeface="Helvetica"/>
              <a:cs typeface="Helvetica"/>
              <a:sym typeface="Helvetic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Helvetica"/>
                <a:ea typeface="Helvetica"/>
                <a:cs typeface="Helvetica"/>
                <a:sym typeface="Helvetica"/>
              </a:rPr>
              <a:t>Last Name</a:t>
            </a:r>
            <a:endParaRPr b="1" sz="1200">
              <a:solidFill>
                <a:schemeClr val="dk1"/>
              </a:solidFill>
              <a:latin typeface="Helvetica"/>
              <a:ea typeface="Helvetica"/>
              <a:cs typeface="Helvetica"/>
              <a:sym typeface="Helvetic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Helvetica"/>
              <a:ea typeface="Helvetica"/>
              <a:cs typeface="Helvetica"/>
              <a:sym typeface="Helvetic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Helvetica"/>
                <a:ea typeface="Helvetica"/>
                <a:cs typeface="Helvetica"/>
                <a:sym typeface="Helvetica"/>
              </a:rPr>
              <a:t>Bio text goes here</a:t>
            </a:r>
            <a:endParaRPr sz="1200"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166" name="Google Shape;166;p25"/>
          <p:cNvSpPr txBox="1"/>
          <p:nvPr/>
        </p:nvSpPr>
        <p:spPr>
          <a:xfrm>
            <a:off x="2898939" y="2930080"/>
            <a:ext cx="2175300" cy="6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Helvetica"/>
                <a:ea typeface="Helvetica"/>
                <a:cs typeface="Helvetica"/>
                <a:sym typeface="Helvetica"/>
              </a:rPr>
              <a:t>First Name </a:t>
            </a:r>
            <a:endParaRPr sz="1200">
              <a:solidFill>
                <a:schemeClr val="dk1"/>
              </a:solidFill>
              <a:latin typeface="Helvetica"/>
              <a:ea typeface="Helvetica"/>
              <a:cs typeface="Helvetica"/>
              <a:sym typeface="Helvetic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Helvetica"/>
                <a:ea typeface="Helvetica"/>
                <a:cs typeface="Helvetica"/>
                <a:sym typeface="Helvetica"/>
              </a:rPr>
              <a:t>Last Name</a:t>
            </a:r>
            <a:endParaRPr b="1" sz="1200">
              <a:solidFill>
                <a:schemeClr val="dk1"/>
              </a:solidFill>
              <a:latin typeface="Helvetica"/>
              <a:ea typeface="Helvetica"/>
              <a:cs typeface="Helvetica"/>
              <a:sym typeface="Helvetic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Helvetica"/>
              <a:ea typeface="Helvetica"/>
              <a:cs typeface="Helvetica"/>
              <a:sym typeface="Helvetic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Helvetica"/>
                <a:ea typeface="Helvetica"/>
                <a:cs typeface="Helvetica"/>
                <a:sym typeface="Helvetica"/>
              </a:rPr>
              <a:t>Bio text goes here</a:t>
            </a:r>
            <a:endParaRPr sz="1200"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167" name="Google Shape;167;p25"/>
          <p:cNvSpPr txBox="1"/>
          <p:nvPr/>
        </p:nvSpPr>
        <p:spPr>
          <a:xfrm>
            <a:off x="5316992" y="2930080"/>
            <a:ext cx="2175300" cy="6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"/>
                <a:ea typeface="Helvetica"/>
                <a:cs typeface="Helvetica"/>
                <a:sym typeface="Helvetica"/>
              </a:rPr>
              <a:t>First Name </a:t>
            </a:r>
            <a:endParaRPr sz="1200">
              <a:latin typeface="Helvetica"/>
              <a:ea typeface="Helvetica"/>
              <a:cs typeface="Helvetica"/>
              <a:sym typeface="Helvetic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Helvetica"/>
                <a:ea typeface="Helvetica"/>
                <a:cs typeface="Helvetica"/>
                <a:sym typeface="Helvetica"/>
              </a:rPr>
              <a:t>Last Name</a:t>
            </a:r>
            <a:endParaRPr b="1" sz="1200">
              <a:latin typeface="Helvetica"/>
              <a:ea typeface="Helvetica"/>
              <a:cs typeface="Helvetica"/>
              <a:sym typeface="Helvetic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Helvetica"/>
              <a:ea typeface="Helvetica"/>
              <a:cs typeface="Helvetica"/>
              <a:sym typeface="Helvetic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"/>
                <a:ea typeface="Helvetica"/>
                <a:cs typeface="Helvetica"/>
                <a:sym typeface="Helvetica"/>
              </a:rPr>
              <a:t>Bio text goes here</a:t>
            </a:r>
            <a:endParaRPr sz="1200">
              <a:latin typeface="Helvetica"/>
              <a:ea typeface="Helvetica"/>
              <a:cs typeface="Helvetica"/>
              <a:sym typeface="Helvetic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/>
          <p:nvPr>
            <p:ph idx="4294967295" type="subTitle"/>
          </p:nvPr>
        </p:nvSpPr>
        <p:spPr>
          <a:xfrm>
            <a:off x="478701" y="2305229"/>
            <a:ext cx="2181300" cy="619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rgbClr val="1E1919"/>
                </a:solidFill>
                <a:latin typeface="Helvetica"/>
                <a:ea typeface="Helvetica"/>
                <a:cs typeface="Helvetica"/>
                <a:sym typeface="Helvetica"/>
              </a:rPr>
              <a:t>[Company Name]</a:t>
            </a:r>
            <a:endParaRPr b="1" sz="1400">
              <a:solidFill>
                <a:srgbClr val="1E1919"/>
              </a:solid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174" name="Google Shape;174;p26"/>
          <p:cNvSpPr txBox="1"/>
          <p:nvPr>
            <p:ph idx="4294967295" type="subTitle"/>
          </p:nvPr>
        </p:nvSpPr>
        <p:spPr>
          <a:xfrm>
            <a:off x="3449074" y="2305229"/>
            <a:ext cx="2181300" cy="619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rgbClr val="1E1919"/>
                </a:solidFill>
                <a:latin typeface="Helvetica"/>
                <a:ea typeface="Helvetica"/>
                <a:cs typeface="Helvetica"/>
                <a:sym typeface="Helvetica"/>
              </a:rPr>
              <a:t>[Company Name]</a:t>
            </a:r>
            <a:endParaRPr b="1" sz="1400">
              <a:solidFill>
                <a:srgbClr val="1E1919"/>
              </a:solid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175" name="Google Shape;175;p26"/>
          <p:cNvSpPr txBox="1"/>
          <p:nvPr>
            <p:ph idx="4294967295" type="subTitle"/>
          </p:nvPr>
        </p:nvSpPr>
        <p:spPr>
          <a:xfrm>
            <a:off x="6412675" y="2573900"/>
            <a:ext cx="1479900" cy="350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rgbClr val="1E1919"/>
                </a:solidFill>
                <a:latin typeface="Helvetica"/>
                <a:ea typeface="Helvetica"/>
                <a:cs typeface="Helvetica"/>
                <a:sym typeface="Helvetica"/>
              </a:rPr>
              <a:t>[Company Name]</a:t>
            </a:r>
            <a:endParaRPr b="1" sz="1400">
              <a:solidFill>
                <a:srgbClr val="1E1919"/>
              </a:solidFill>
              <a:latin typeface="Helvetica"/>
              <a:ea typeface="Helvetica"/>
              <a:cs typeface="Helvetica"/>
              <a:sym typeface="Helvetica"/>
            </a:endParaRPr>
          </a:p>
        </p:txBody>
      </p:sp>
      <p:pic>
        <p:nvPicPr>
          <p:cNvPr id="176" name="Google Shape;17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68991" y="5104404"/>
            <a:ext cx="4809744" cy="27213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7" name="Google Shape;177;p26"/>
          <p:cNvCxnSpPr/>
          <p:nvPr/>
        </p:nvCxnSpPr>
        <p:spPr>
          <a:xfrm>
            <a:off x="478700" y="2995775"/>
            <a:ext cx="1685700" cy="0"/>
          </a:xfrm>
          <a:prstGeom prst="straightConnector1">
            <a:avLst/>
          </a:prstGeom>
          <a:noFill/>
          <a:ln cap="flat" cmpd="sng" w="28575">
            <a:solidFill>
              <a:srgbClr val="1E191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26"/>
          <p:cNvCxnSpPr/>
          <p:nvPr/>
        </p:nvCxnSpPr>
        <p:spPr>
          <a:xfrm>
            <a:off x="3449083" y="2995780"/>
            <a:ext cx="1640400" cy="0"/>
          </a:xfrm>
          <a:prstGeom prst="straightConnector1">
            <a:avLst/>
          </a:prstGeom>
          <a:noFill/>
          <a:ln cap="flat" cmpd="sng" w="28575">
            <a:solidFill>
              <a:srgbClr val="1E191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26"/>
          <p:cNvCxnSpPr/>
          <p:nvPr/>
        </p:nvCxnSpPr>
        <p:spPr>
          <a:xfrm>
            <a:off x="6412675" y="2995775"/>
            <a:ext cx="1622700" cy="0"/>
          </a:xfrm>
          <a:prstGeom prst="straightConnector1">
            <a:avLst/>
          </a:prstGeom>
          <a:noFill/>
          <a:ln cap="flat" cmpd="sng" w="28575">
            <a:solidFill>
              <a:srgbClr val="1E191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" name="Google Shape;180;p26"/>
          <p:cNvSpPr txBox="1"/>
          <p:nvPr/>
        </p:nvSpPr>
        <p:spPr>
          <a:xfrm>
            <a:off x="448687" y="3143025"/>
            <a:ext cx="24426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100">
                <a:solidFill>
                  <a:srgbClr val="1E1919"/>
                </a:solidFill>
                <a:latin typeface="Helvetica"/>
                <a:ea typeface="Helvetica"/>
                <a:cs typeface="Helvetica"/>
                <a:sym typeface="Helvetica"/>
              </a:rPr>
              <a:t>Briefly describe the work you’ve done for previous clients. </a:t>
            </a:r>
            <a:endParaRPr sz="1100">
              <a:solidFill>
                <a:srgbClr val="1E1919"/>
              </a:solidFill>
            </a:endParaRPr>
          </a:p>
        </p:txBody>
      </p:sp>
      <p:sp>
        <p:nvSpPr>
          <p:cNvPr id="181" name="Google Shape;181;p26"/>
          <p:cNvSpPr txBox="1"/>
          <p:nvPr/>
        </p:nvSpPr>
        <p:spPr>
          <a:xfrm>
            <a:off x="3414412" y="3143025"/>
            <a:ext cx="25683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100">
                <a:solidFill>
                  <a:srgbClr val="1E1919"/>
                </a:solidFill>
                <a:latin typeface="Helvetica"/>
                <a:ea typeface="Helvetica"/>
                <a:cs typeface="Helvetica"/>
                <a:sym typeface="Helvetica"/>
              </a:rPr>
              <a:t>Highlight their results, success stories, and what you learned. </a:t>
            </a:r>
            <a:endParaRPr sz="1100">
              <a:solidFill>
                <a:srgbClr val="1E1919"/>
              </a:solidFill>
            </a:endParaRPr>
          </a:p>
        </p:txBody>
      </p:sp>
      <p:sp>
        <p:nvSpPr>
          <p:cNvPr id="182" name="Google Shape;182;p26"/>
          <p:cNvSpPr txBox="1"/>
          <p:nvPr/>
        </p:nvSpPr>
        <p:spPr>
          <a:xfrm>
            <a:off x="6380137" y="3143025"/>
            <a:ext cx="2442600" cy="5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100">
                <a:solidFill>
                  <a:srgbClr val="1E1919"/>
                </a:solidFill>
                <a:latin typeface="Helvetica"/>
                <a:ea typeface="Helvetica"/>
                <a:cs typeface="Helvetica"/>
                <a:sym typeface="Helvetica"/>
              </a:rPr>
              <a:t>Make sure to include any noteworthy campaigns and/or business outcomes.</a:t>
            </a:r>
            <a:endParaRPr sz="1100">
              <a:solidFill>
                <a:srgbClr val="1E1919"/>
              </a:solidFill>
            </a:endParaRPr>
          </a:p>
        </p:txBody>
      </p:sp>
      <p:sp>
        <p:nvSpPr>
          <p:cNvPr id="183" name="Google Shape;183;p26"/>
          <p:cNvSpPr txBox="1"/>
          <p:nvPr/>
        </p:nvSpPr>
        <p:spPr>
          <a:xfrm>
            <a:off x="467125" y="328450"/>
            <a:ext cx="67677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Helvetica"/>
                <a:ea typeface="Helvetica"/>
                <a:cs typeface="Helvetica"/>
                <a:sym typeface="Helvetica"/>
              </a:rPr>
              <a:t>Our Clients</a:t>
            </a:r>
            <a:endParaRPr b="1" sz="3000">
              <a:solidFill>
                <a:schemeClr val="dk1"/>
              </a:solidFill>
              <a:latin typeface="Helvetica"/>
              <a:ea typeface="Helvetica"/>
              <a:cs typeface="Helvetica"/>
              <a:sym typeface="Helvetic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467125" y="1565500"/>
            <a:ext cx="897600" cy="848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6"/>
          <p:cNvSpPr txBox="1"/>
          <p:nvPr/>
        </p:nvSpPr>
        <p:spPr>
          <a:xfrm>
            <a:off x="520675" y="1851688"/>
            <a:ext cx="7401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 client logo</a:t>
            </a:r>
            <a:endParaRPr sz="1100">
              <a:solidFill>
                <a:srgbClr val="9999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3439900" y="1546175"/>
            <a:ext cx="897600" cy="848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6"/>
          <p:cNvSpPr/>
          <p:nvPr/>
        </p:nvSpPr>
        <p:spPr>
          <a:xfrm>
            <a:off x="6419450" y="1546162"/>
            <a:ext cx="897600" cy="848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6"/>
          <p:cNvSpPr txBox="1"/>
          <p:nvPr/>
        </p:nvSpPr>
        <p:spPr>
          <a:xfrm>
            <a:off x="3470063" y="1851688"/>
            <a:ext cx="7401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 client logo</a:t>
            </a:r>
            <a:endParaRPr sz="1100">
              <a:solidFill>
                <a:srgbClr val="9999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9" name="Google Shape;189;p26"/>
          <p:cNvSpPr txBox="1"/>
          <p:nvPr/>
        </p:nvSpPr>
        <p:spPr>
          <a:xfrm>
            <a:off x="6516613" y="1851688"/>
            <a:ext cx="7401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 client logo</a:t>
            </a:r>
            <a:endParaRPr sz="1100">
              <a:solidFill>
                <a:srgbClr val="9999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0" name="Google Shape;190;p26"/>
          <p:cNvSpPr txBox="1"/>
          <p:nvPr/>
        </p:nvSpPr>
        <p:spPr>
          <a:xfrm>
            <a:off x="1511300" y="4541700"/>
            <a:ext cx="2352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Confidential | Last updated [mm/dd/yy]</a:t>
            </a:r>
            <a:endParaRPr sz="10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91" name="Google Shape;191;p26"/>
          <p:cNvGrpSpPr/>
          <p:nvPr/>
        </p:nvGrpSpPr>
        <p:grpSpPr>
          <a:xfrm>
            <a:off x="457200" y="4461450"/>
            <a:ext cx="919500" cy="314400"/>
            <a:chOff x="457200" y="4461450"/>
            <a:chExt cx="919500" cy="314400"/>
          </a:xfrm>
        </p:grpSpPr>
        <p:sp>
          <p:nvSpPr>
            <p:cNvPr id="192" name="Google Shape;192;p26"/>
            <p:cNvSpPr/>
            <p:nvPr/>
          </p:nvSpPr>
          <p:spPr>
            <a:xfrm>
              <a:off x="457200" y="4461450"/>
              <a:ext cx="919500" cy="3144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6"/>
            <p:cNvSpPr txBox="1"/>
            <p:nvPr/>
          </p:nvSpPr>
          <p:spPr>
            <a:xfrm>
              <a:off x="546900" y="4529400"/>
              <a:ext cx="740100" cy="1785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rgbClr val="666666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Your logo</a:t>
              </a:r>
              <a:endParaRPr sz="11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/>
          <p:nvPr/>
        </p:nvSpPr>
        <p:spPr>
          <a:xfrm>
            <a:off x="4665050" y="3689825"/>
            <a:ext cx="33543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Client name, role, company</a:t>
            </a:r>
            <a:endParaRPr i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0" name="Google Shape;200;p27"/>
          <p:cNvSpPr/>
          <p:nvPr/>
        </p:nvSpPr>
        <p:spPr>
          <a:xfrm>
            <a:off x="1315350" y="1214250"/>
            <a:ext cx="6644100" cy="13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1E1919"/>
                </a:solidFill>
                <a:latin typeface="Helvetica"/>
                <a:ea typeface="Helvetica"/>
                <a:cs typeface="Helvetica"/>
                <a:sym typeface="Helvetica"/>
              </a:rPr>
              <a:t>“</a:t>
            </a:r>
            <a:r>
              <a:rPr b="1" lang="en" sz="2900">
                <a:solidFill>
                  <a:srgbClr val="1E1919"/>
                </a:solidFill>
                <a:latin typeface="Helvetica"/>
                <a:ea typeface="Helvetica"/>
                <a:cs typeface="Helvetica"/>
                <a:sym typeface="Helvetica"/>
              </a:rPr>
              <a:t>Share a recent client testimonial with your prospect(s).”</a:t>
            </a:r>
            <a:endParaRPr b="1" sz="2900">
              <a:solidFill>
                <a:srgbClr val="1E1919"/>
              </a:solidFill>
              <a:latin typeface="Helvetica"/>
              <a:ea typeface="Helvetica"/>
              <a:cs typeface="Helvetica"/>
              <a:sym typeface="Helvetic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1E1919"/>
              </a:solid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201" name="Google Shape;201;p27"/>
          <p:cNvSpPr txBox="1"/>
          <p:nvPr/>
        </p:nvSpPr>
        <p:spPr>
          <a:xfrm>
            <a:off x="9960025" y="-435950"/>
            <a:ext cx="69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x3</a:t>
            </a:r>
            <a:endParaRPr/>
          </a:p>
        </p:txBody>
      </p:sp>
      <p:sp>
        <p:nvSpPr>
          <p:cNvPr id="202" name="Google Shape;202;p27"/>
          <p:cNvSpPr txBox="1"/>
          <p:nvPr/>
        </p:nvSpPr>
        <p:spPr>
          <a:xfrm>
            <a:off x="1511300" y="4541700"/>
            <a:ext cx="2352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Confidential | Last updated [mm/dd/yy]</a:t>
            </a:r>
            <a:endParaRPr sz="10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03" name="Google Shape;203;p27"/>
          <p:cNvGrpSpPr/>
          <p:nvPr/>
        </p:nvGrpSpPr>
        <p:grpSpPr>
          <a:xfrm>
            <a:off x="457200" y="4461450"/>
            <a:ext cx="919500" cy="314400"/>
            <a:chOff x="457200" y="4461450"/>
            <a:chExt cx="919500" cy="314400"/>
          </a:xfrm>
        </p:grpSpPr>
        <p:sp>
          <p:nvSpPr>
            <p:cNvPr id="204" name="Google Shape;204;p27"/>
            <p:cNvSpPr/>
            <p:nvPr/>
          </p:nvSpPr>
          <p:spPr>
            <a:xfrm>
              <a:off x="457200" y="4461450"/>
              <a:ext cx="919500" cy="3144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7"/>
            <p:cNvSpPr txBox="1"/>
            <p:nvPr/>
          </p:nvSpPr>
          <p:spPr>
            <a:xfrm>
              <a:off x="546900" y="4529400"/>
              <a:ext cx="740100" cy="1785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rgbClr val="666666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Your logo</a:t>
              </a:r>
              <a:endParaRPr sz="11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/>
          <p:nvPr/>
        </p:nvSpPr>
        <p:spPr>
          <a:xfrm>
            <a:off x="467125" y="328450"/>
            <a:ext cx="67677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Helvetica"/>
                <a:ea typeface="Helvetica"/>
                <a:cs typeface="Helvetica"/>
                <a:sym typeface="Helvetica"/>
              </a:rPr>
              <a:t>Our Services</a:t>
            </a:r>
            <a:endParaRPr sz="1800">
              <a:solidFill>
                <a:schemeClr val="dk1"/>
              </a:solid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211" name="Google Shape;211;p28"/>
          <p:cNvSpPr txBox="1"/>
          <p:nvPr/>
        </p:nvSpPr>
        <p:spPr>
          <a:xfrm>
            <a:off x="1511300" y="4541700"/>
            <a:ext cx="2352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Confidential | Last updated [mm/dd/yy]</a:t>
            </a:r>
            <a:endParaRPr sz="10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2" name="Google Shape;212;p28"/>
          <p:cNvSpPr txBox="1"/>
          <p:nvPr/>
        </p:nvSpPr>
        <p:spPr>
          <a:xfrm>
            <a:off x="457200" y="3655325"/>
            <a:ext cx="5806500" cy="377100"/>
          </a:xfrm>
          <a:prstGeom prst="rect">
            <a:avLst/>
          </a:prstGeom>
          <a:solidFill>
            <a:srgbClr val="14C8E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EEFEFB"/>
                </a:solidFill>
              </a:rPr>
              <a:t>Provide an overview of your company’s services. </a:t>
            </a:r>
            <a:endParaRPr/>
          </a:p>
        </p:txBody>
      </p:sp>
      <p:grpSp>
        <p:nvGrpSpPr>
          <p:cNvPr id="213" name="Google Shape;213;p28"/>
          <p:cNvGrpSpPr/>
          <p:nvPr/>
        </p:nvGrpSpPr>
        <p:grpSpPr>
          <a:xfrm>
            <a:off x="457200" y="4461450"/>
            <a:ext cx="919500" cy="314400"/>
            <a:chOff x="457200" y="4461450"/>
            <a:chExt cx="919500" cy="314400"/>
          </a:xfrm>
        </p:grpSpPr>
        <p:sp>
          <p:nvSpPr>
            <p:cNvPr id="214" name="Google Shape;214;p28"/>
            <p:cNvSpPr/>
            <p:nvPr/>
          </p:nvSpPr>
          <p:spPr>
            <a:xfrm>
              <a:off x="457200" y="4461450"/>
              <a:ext cx="919500" cy="3144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8"/>
            <p:cNvSpPr txBox="1"/>
            <p:nvPr/>
          </p:nvSpPr>
          <p:spPr>
            <a:xfrm>
              <a:off x="546900" y="4529400"/>
              <a:ext cx="740100" cy="1785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rgbClr val="666666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Your logo</a:t>
              </a:r>
              <a:endParaRPr sz="11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16" name="Google Shape;216;p28"/>
          <p:cNvSpPr txBox="1"/>
          <p:nvPr/>
        </p:nvSpPr>
        <p:spPr>
          <a:xfrm>
            <a:off x="319100" y="982275"/>
            <a:ext cx="4736400" cy="25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91A1B"/>
              </a:buClr>
              <a:buSzPts val="1500"/>
              <a:buFont typeface="Helvetica Neue"/>
              <a:buChar char="●"/>
            </a:pPr>
            <a:r>
              <a:rPr lang="en" sz="1500">
                <a:solidFill>
                  <a:srgbClr val="191A1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Website &amp; SEO audit</a:t>
            </a:r>
            <a:endParaRPr sz="1500">
              <a:solidFill>
                <a:srgbClr val="191A1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91A1B"/>
              </a:buClr>
              <a:buSzPts val="1500"/>
              <a:buFont typeface="Helvetica Neue"/>
              <a:buChar char="●"/>
            </a:pPr>
            <a:r>
              <a:rPr lang="en" sz="1500">
                <a:solidFill>
                  <a:srgbClr val="191A1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 &amp; Comms strategy</a:t>
            </a:r>
            <a:endParaRPr sz="1500">
              <a:solidFill>
                <a:srgbClr val="191A1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91A1B"/>
              </a:buClr>
              <a:buSzPts val="1500"/>
              <a:buFont typeface="Helvetica Neue"/>
              <a:buChar char="●"/>
            </a:pPr>
            <a:r>
              <a:rPr lang="en" sz="1500">
                <a:solidFill>
                  <a:srgbClr val="191A1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Brand &amp; Product development</a:t>
            </a:r>
            <a:endParaRPr sz="1500">
              <a:solidFill>
                <a:srgbClr val="191A1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91A1B"/>
              </a:buClr>
              <a:buSzPts val="1500"/>
              <a:buFont typeface="Helvetica Neue"/>
              <a:buChar char="●"/>
            </a:pPr>
            <a:r>
              <a:rPr lang="en" sz="1500">
                <a:solidFill>
                  <a:srgbClr val="191A1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Paid Media management</a:t>
            </a:r>
            <a:endParaRPr sz="1500">
              <a:solidFill>
                <a:srgbClr val="191A1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91A1B"/>
              </a:buClr>
              <a:buSzPts val="1500"/>
              <a:buFont typeface="Helvetica Neue"/>
              <a:buChar char="●"/>
            </a:pPr>
            <a:r>
              <a:rPr lang="en" sz="1500">
                <a:solidFill>
                  <a:srgbClr val="191A1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Product Innovation</a:t>
            </a:r>
            <a:endParaRPr sz="1500">
              <a:solidFill>
                <a:srgbClr val="191A1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1" name="Google Shape;221;p29"/>
          <p:cNvGraphicFramePr/>
          <p:nvPr/>
        </p:nvGraphicFramePr>
        <p:xfrm>
          <a:off x="466016" y="1045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{08ADFBB5-2290-4648-8394-20B9E96A8BAC}</a:tableStyleId>
              </a:tblPr>
              <a:tblGrid>
                <a:gridCol w="2395400"/>
                <a:gridCol w="310250"/>
                <a:gridCol w="2695275"/>
                <a:gridCol w="310250"/>
                <a:gridCol w="2507900"/>
              </a:tblGrid>
              <a:tr h="351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Standard</a:t>
                      </a:r>
                      <a:endParaRPr sz="1300"/>
                    </a:p>
                  </a:txBody>
                  <a:tcPr marT="91425" marB="91425" marR="91425" marL="0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rgbClr val="F7F5F2"/>
                        </a:solidFill>
                        <a:latin typeface="Helvetica"/>
                        <a:ea typeface="Helvetica"/>
                        <a:cs typeface="Helvetica"/>
                        <a:sym typeface="Helvetica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Professional</a:t>
                      </a:r>
                      <a:endParaRPr sz="1300"/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rgbClr val="F7F5F2"/>
                        </a:solidFill>
                        <a:latin typeface="Helvetica"/>
                        <a:ea typeface="Helvetica"/>
                        <a:cs typeface="Helvetica"/>
                        <a:sym typeface="Helvetica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Enterprise</a:t>
                      </a:r>
                      <a:endParaRPr sz="1300"/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48200">
                <a:tc>
                  <a:txBody>
                    <a:bodyPr/>
                    <a:lstStyle/>
                    <a:p>
                      <a:pPr indent="-102870" lvl="0" marL="13716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Helvetica"/>
                        <a:buChar char="●"/>
                      </a:pPr>
                      <a:r>
                        <a:rPr lang="en" sz="1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Content creation</a:t>
                      </a:r>
                      <a:endParaRPr sz="1100">
                        <a:latin typeface="Helvetica"/>
                        <a:ea typeface="Helvetica"/>
                        <a:cs typeface="Helvetica"/>
                        <a:sym typeface="Helvetica"/>
                      </a:endParaRPr>
                    </a:p>
                    <a:p>
                      <a:pPr indent="-102870" lvl="0" marL="137160" rtl="0" algn="l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SzPts val="900"/>
                        <a:buFont typeface="Helvetica"/>
                        <a:buChar char="●"/>
                      </a:pPr>
                      <a:r>
                        <a:rPr lang="en" sz="1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Social media management</a:t>
                      </a:r>
                      <a:endParaRPr sz="1100">
                        <a:latin typeface="Helvetica"/>
                        <a:ea typeface="Helvetica"/>
                        <a:cs typeface="Helvetica"/>
                        <a:sym typeface="Helvetica"/>
                      </a:endParaRPr>
                    </a:p>
                    <a:p>
                      <a:pPr indent="-102870" lvl="0" marL="137160" rtl="0" algn="l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SzPts val="900"/>
                        <a:buFont typeface="Helvetica"/>
                        <a:buChar char="●"/>
                      </a:pPr>
                      <a:r>
                        <a:rPr lang="en" sz="1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Paid campaign management</a:t>
                      </a:r>
                      <a:endParaRPr sz="1100">
                        <a:latin typeface="Helvetica"/>
                        <a:ea typeface="Helvetica"/>
                        <a:cs typeface="Helvetica"/>
                        <a:sym typeface="Helvetica"/>
                      </a:endParaRPr>
                    </a:p>
                    <a:p>
                      <a:pPr indent="-102870" lvl="0" marL="137160" rtl="0" algn="l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SzPts val="900"/>
                        <a:buFont typeface="Helvetica"/>
                        <a:buChar char="●"/>
                      </a:pPr>
                      <a:r>
                        <a:rPr lang="en" sz="1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$XX per month / $XX per year</a:t>
                      </a:r>
                      <a:endParaRPr sz="1100">
                        <a:latin typeface="Helvetica"/>
                        <a:ea typeface="Helvetica"/>
                        <a:cs typeface="Helvetica"/>
                        <a:sym typeface="Helvetica"/>
                      </a:endParaRPr>
                    </a:p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Helvetica"/>
                        <a:ea typeface="Helvetica"/>
                        <a:cs typeface="Helvetica"/>
                        <a:sym typeface="Helvetica"/>
                      </a:endParaRPr>
                    </a:p>
                    <a:p>
                      <a:pPr indent="-45720" lvl="0" marL="137160" rtl="0" algn="l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Helvetica"/>
                        <a:ea typeface="Helvetica"/>
                        <a:cs typeface="Helvetica"/>
                        <a:sym typeface="Helvetica"/>
                      </a:endParaRPr>
                    </a:p>
                  </a:txBody>
                  <a:tcPr marT="182875" marB="182875" marR="182875" marL="1737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-45720" lvl="0" marL="13716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E1919"/>
                        </a:solidFill>
                        <a:latin typeface="Helvetica"/>
                        <a:ea typeface="Helvetica"/>
                        <a:cs typeface="Helvetica"/>
                        <a:sym typeface="Helvetica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02870" lvl="0" marL="13716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919"/>
                        </a:buClr>
                        <a:buSzPts val="900"/>
                        <a:buFont typeface="Helvetica"/>
                        <a:buChar char="●"/>
                      </a:pPr>
                      <a:r>
                        <a:rPr lang="en" sz="1100">
                          <a:solidFill>
                            <a:srgbClr val="1E1919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Everything in Standard plus:</a:t>
                      </a:r>
                      <a:endParaRPr sz="1100">
                        <a:solidFill>
                          <a:srgbClr val="1E1919"/>
                        </a:solidFill>
                        <a:latin typeface="Helvetica"/>
                        <a:ea typeface="Helvetica"/>
                        <a:cs typeface="Helvetica"/>
                        <a:sym typeface="Helvetica"/>
                      </a:endParaRPr>
                    </a:p>
                    <a:p>
                      <a:pPr indent="-102870" lvl="0" marL="137160" rtl="0" algn="l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1E1919"/>
                        </a:buClr>
                        <a:buSzPts val="900"/>
                        <a:buFont typeface="Helvetica"/>
                        <a:buChar char="●"/>
                      </a:pPr>
                      <a:r>
                        <a:rPr lang="en" sz="1100">
                          <a:solidFill>
                            <a:srgbClr val="1E1919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A/B testing</a:t>
                      </a:r>
                      <a:endParaRPr sz="1100">
                        <a:solidFill>
                          <a:srgbClr val="1E1919"/>
                        </a:solidFill>
                        <a:latin typeface="Helvetica"/>
                        <a:ea typeface="Helvetica"/>
                        <a:cs typeface="Helvetica"/>
                        <a:sym typeface="Helvetica"/>
                      </a:endParaRPr>
                    </a:p>
                    <a:p>
                      <a:pPr indent="-102870" lvl="0" marL="137160" rtl="0" algn="l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1E1919"/>
                        </a:buClr>
                        <a:buSzPts val="900"/>
                        <a:buFont typeface="Helvetica"/>
                        <a:buChar char="●"/>
                      </a:pPr>
                      <a:r>
                        <a:rPr lang="en" sz="1100">
                          <a:solidFill>
                            <a:srgbClr val="1E1919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Communications strategy</a:t>
                      </a:r>
                      <a:endParaRPr sz="1100">
                        <a:solidFill>
                          <a:srgbClr val="1E1919"/>
                        </a:solidFill>
                        <a:latin typeface="Helvetica"/>
                        <a:ea typeface="Helvetica"/>
                        <a:cs typeface="Helvetica"/>
                        <a:sym typeface="Helvetica"/>
                      </a:endParaRPr>
                    </a:p>
                    <a:p>
                      <a:pPr indent="-102870" lvl="0" marL="137160" rtl="0" algn="l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1E1919"/>
                        </a:buClr>
                        <a:buSzPts val="900"/>
                        <a:buFont typeface="Helvetica"/>
                        <a:buChar char="●"/>
                      </a:pPr>
                      <a:r>
                        <a:rPr lang="en" sz="1100">
                          <a:solidFill>
                            <a:srgbClr val="1E1919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$XX per month / $XX per year</a:t>
                      </a:r>
                      <a:endParaRPr sz="1100">
                        <a:solidFill>
                          <a:srgbClr val="1E1919"/>
                        </a:solidFill>
                        <a:latin typeface="Helvetica"/>
                        <a:ea typeface="Helvetica"/>
                        <a:cs typeface="Helvetica"/>
                        <a:sym typeface="Helvetica"/>
                      </a:endParaRPr>
                    </a:p>
                    <a:p>
                      <a:pPr indent="0" lvl="0" marL="457200" rtl="0" algn="l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Helvetica"/>
                        <a:ea typeface="Helvetica"/>
                        <a:cs typeface="Helvetica"/>
                        <a:sym typeface="Helvetica"/>
                      </a:endParaRPr>
                    </a:p>
                  </a:txBody>
                  <a:tcPr marT="182875" marB="182875" marR="182875" marL="1737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E1919"/>
                        </a:solidFill>
                        <a:latin typeface="Helvetica"/>
                        <a:ea typeface="Helvetica"/>
                        <a:cs typeface="Helvetica"/>
                        <a:sym typeface="Helvetica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02870" lvl="0" marL="13716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919"/>
                        </a:buClr>
                        <a:buSzPts val="900"/>
                        <a:buFont typeface="Helvetica"/>
                        <a:buChar char="●"/>
                      </a:pPr>
                      <a:r>
                        <a:rPr lang="en" sz="1100">
                          <a:solidFill>
                            <a:srgbClr val="1E1919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Everything in Professional plus:</a:t>
                      </a:r>
                      <a:endParaRPr sz="1100">
                        <a:solidFill>
                          <a:srgbClr val="1E1919"/>
                        </a:solidFill>
                        <a:latin typeface="Helvetica"/>
                        <a:ea typeface="Helvetica"/>
                        <a:cs typeface="Helvetica"/>
                        <a:sym typeface="Helvetica"/>
                      </a:endParaRPr>
                    </a:p>
                    <a:p>
                      <a:pPr indent="-102870" lvl="0" marL="137160" rtl="0" algn="l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1E1919"/>
                        </a:buClr>
                        <a:buSzPts val="900"/>
                        <a:buFont typeface="Helvetica"/>
                        <a:buChar char="●"/>
                      </a:pPr>
                      <a:r>
                        <a:rPr lang="en" sz="1100">
                          <a:solidFill>
                            <a:srgbClr val="1E1919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Event sponsorships</a:t>
                      </a:r>
                      <a:endParaRPr sz="1100">
                        <a:solidFill>
                          <a:srgbClr val="1E1919"/>
                        </a:solidFill>
                        <a:latin typeface="Helvetica"/>
                        <a:ea typeface="Helvetica"/>
                        <a:cs typeface="Helvetica"/>
                        <a:sym typeface="Helvetica"/>
                      </a:endParaRPr>
                    </a:p>
                    <a:p>
                      <a:pPr indent="-102870" lvl="0" marL="137160" rtl="0" algn="l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1E1919"/>
                        </a:buClr>
                        <a:buSzPts val="900"/>
                        <a:buFont typeface="Helvetica"/>
                        <a:buChar char="●"/>
                      </a:pPr>
                      <a:r>
                        <a:rPr lang="en" sz="1100">
                          <a:solidFill>
                            <a:srgbClr val="1E1919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Brand partnership management</a:t>
                      </a:r>
                      <a:endParaRPr sz="1100">
                        <a:solidFill>
                          <a:srgbClr val="1E1919"/>
                        </a:solidFill>
                        <a:latin typeface="Helvetica"/>
                        <a:ea typeface="Helvetica"/>
                        <a:cs typeface="Helvetica"/>
                        <a:sym typeface="Helvetica"/>
                      </a:endParaRPr>
                    </a:p>
                    <a:p>
                      <a:pPr indent="-102870" lvl="0" marL="137160" rtl="0" algn="l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1E1919"/>
                        </a:buClr>
                        <a:buSzPts val="900"/>
                        <a:buFont typeface="Helvetica"/>
                        <a:buChar char="●"/>
                      </a:pPr>
                      <a:r>
                        <a:rPr lang="en" sz="1100">
                          <a:solidFill>
                            <a:srgbClr val="1E1919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$XX per month / $XX per year</a:t>
                      </a:r>
                      <a:endParaRPr sz="1100">
                        <a:solidFill>
                          <a:srgbClr val="1E1919"/>
                        </a:solidFill>
                        <a:latin typeface="Helvetica"/>
                        <a:ea typeface="Helvetica"/>
                        <a:cs typeface="Helvetica"/>
                        <a:sym typeface="Helvetica"/>
                      </a:endParaRPr>
                    </a:p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Helvetica"/>
                        <a:ea typeface="Helvetica"/>
                        <a:cs typeface="Helvetica"/>
                        <a:sym typeface="Helvetica"/>
                      </a:endParaRPr>
                    </a:p>
                  </a:txBody>
                  <a:tcPr marT="182875" marB="182875" marR="182875" marL="1737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grpSp>
        <p:nvGrpSpPr>
          <p:cNvPr id="222" name="Google Shape;222;p29"/>
          <p:cNvGrpSpPr/>
          <p:nvPr/>
        </p:nvGrpSpPr>
        <p:grpSpPr>
          <a:xfrm>
            <a:off x="457200" y="4461450"/>
            <a:ext cx="919500" cy="314400"/>
            <a:chOff x="457200" y="4461450"/>
            <a:chExt cx="919500" cy="314400"/>
          </a:xfrm>
        </p:grpSpPr>
        <p:sp>
          <p:nvSpPr>
            <p:cNvPr id="223" name="Google Shape;223;p29"/>
            <p:cNvSpPr/>
            <p:nvPr/>
          </p:nvSpPr>
          <p:spPr>
            <a:xfrm>
              <a:off x="457200" y="4461450"/>
              <a:ext cx="919500" cy="3144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9"/>
            <p:cNvSpPr txBox="1"/>
            <p:nvPr/>
          </p:nvSpPr>
          <p:spPr>
            <a:xfrm>
              <a:off x="546900" y="4529400"/>
              <a:ext cx="740100" cy="1785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rgbClr val="666666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Your logo</a:t>
              </a:r>
              <a:endParaRPr sz="11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25" name="Google Shape;225;p29"/>
          <p:cNvSpPr txBox="1"/>
          <p:nvPr/>
        </p:nvSpPr>
        <p:spPr>
          <a:xfrm>
            <a:off x="1511300" y="4541700"/>
            <a:ext cx="2352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Confidential | Last updated [mm/dd/yy]</a:t>
            </a:r>
            <a:endParaRPr sz="10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6" name="Google Shape;226;p29"/>
          <p:cNvSpPr txBox="1"/>
          <p:nvPr/>
        </p:nvSpPr>
        <p:spPr>
          <a:xfrm>
            <a:off x="467125" y="328450"/>
            <a:ext cx="67677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Helvetica"/>
                <a:ea typeface="Helvetica"/>
                <a:cs typeface="Helvetica"/>
                <a:sym typeface="Helvetica"/>
              </a:rPr>
              <a:t>Our Prices</a:t>
            </a:r>
            <a:endParaRPr sz="1800">
              <a:solidFill>
                <a:schemeClr val="dk1"/>
              </a:solidFill>
              <a:latin typeface="Helvetica"/>
              <a:ea typeface="Helvetica"/>
              <a:cs typeface="Helvetica"/>
              <a:sym typeface="Helvetic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0"/>
          <p:cNvSpPr txBox="1"/>
          <p:nvPr/>
        </p:nvSpPr>
        <p:spPr>
          <a:xfrm>
            <a:off x="467125" y="328450"/>
            <a:ext cx="67677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Helvetica"/>
                <a:ea typeface="Helvetica"/>
                <a:cs typeface="Helvetica"/>
                <a:sym typeface="Helvetica"/>
              </a:rPr>
              <a:t>Proposal Objective</a:t>
            </a:r>
            <a:endParaRPr b="1" sz="3000">
              <a:solidFill>
                <a:schemeClr val="dk1"/>
              </a:solidFill>
              <a:latin typeface="Helvetica"/>
              <a:ea typeface="Helvetica"/>
              <a:cs typeface="Helvetica"/>
              <a:sym typeface="Helvetic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Helvetica"/>
                <a:ea typeface="Helvetica"/>
                <a:cs typeface="Helvetica"/>
                <a:sym typeface="Helvetica"/>
              </a:rPr>
              <a:t>  </a:t>
            </a:r>
            <a:endParaRPr sz="1800">
              <a:solidFill>
                <a:schemeClr val="dk1"/>
              </a:solid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232" name="Google Shape;232;p30"/>
          <p:cNvSpPr txBox="1"/>
          <p:nvPr/>
        </p:nvSpPr>
        <p:spPr>
          <a:xfrm>
            <a:off x="1511300" y="4541700"/>
            <a:ext cx="2352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Confidential | Last updated [mm/dd/yy]</a:t>
            </a:r>
            <a:endParaRPr sz="10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3" name="Google Shape;233;p30"/>
          <p:cNvSpPr txBox="1"/>
          <p:nvPr/>
        </p:nvSpPr>
        <p:spPr>
          <a:xfrm>
            <a:off x="457200" y="3655325"/>
            <a:ext cx="5806500" cy="569400"/>
          </a:xfrm>
          <a:prstGeom prst="rect">
            <a:avLst/>
          </a:prstGeom>
          <a:solidFill>
            <a:srgbClr val="14C8E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EEFEFB"/>
                </a:solidFill>
              </a:rPr>
              <a:t>State how your proposal aligns with your prospect’s business goals, and include any expected outcomes.</a:t>
            </a:r>
            <a:endParaRPr/>
          </a:p>
        </p:txBody>
      </p:sp>
      <p:sp>
        <p:nvSpPr>
          <p:cNvPr id="234" name="Google Shape;234;p30"/>
          <p:cNvSpPr txBox="1"/>
          <p:nvPr>
            <p:ph idx="4294967295" type="subTitle"/>
          </p:nvPr>
        </p:nvSpPr>
        <p:spPr>
          <a:xfrm>
            <a:off x="295075" y="1058475"/>
            <a:ext cx="5806500" cy="18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●"/>
            </a:pPr>
            <a:r>
              <a:rPr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 new and emerging markets</a:t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●"/>
            </a:pPr>
            <a:r>
              <a:rPr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Increase brand share of voice</a:t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●"/>
            </a:pPr>
            <a:r>
              <a:rPr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Secure XX strategic partnerships</a:t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●"/>
            </a:pPr>
            <a:r>
              <a:rPr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Launch and optimize paid media campaigns</a:t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●"/>
            </a:pPr>
            <a:r>
              <a:rPr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Generate social buzz around upcoming product launches</a:t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35" name="Google Shape;235;p30"/>
          <p:cNvGrpSpPr/>
          <p:nvPr/>
        </p:nvGrpSpPr>
        <p:grpSpPr>
          <a:xfrm>
            <a:off x="457200" y="4461450"/>
            <a:ext cx="919500" cy="314400"/>
            <a:chOff x="457200" y="4461450"/>
            <a:chExt cx="919500" cy="314400"/>
          </a:xfrm>
        </p:grpSpPr>
        <p:sp>
          <p:nvSpPr>
            <p:cNvPr id="236" name="Google Shape;236;p30"/>
            <p:cNvSpPr/>
            <p:nvPr/>
          </p:nvSpPr>
          <p:spPr>
            <a:xfrm>
              <a:off x="457200" y="4461450"/>
              <a:ext cx="919500" cy="3144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30"/>
            <p:cNvSpPr txBox="1"/>
            <p:nvPr/>
          </p:nvSpPr>
          <p:spPr>
            <a:xfrm>
              <a:off x="546900" y="4529400"/>
              <a:ext cx="740100" cy="1785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rgbClr val="666666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Your logo</a:t>
              </a:r>
              <a:endParaRPr sz="11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2" name="Google Shape;242;p31"/>
          <p:cNvGraphicFramePr/>
          <p:nvPr/>
        </p:nvGraphicFramePr>
        <p:xfrm>
          <a:off x="486275" y="1596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{08ADFBB5-2290-4648-8394-20B9E96A8BAC}</a:tableStyleId>
              </a:tblPr>
              <a:tblGrid>
                <a:gridCol w="1052100"/>
                <a:gridCol w="1755150"/>
                <a:gridCol w="1755150"/>
                <a:gridCol w="1755150"/>
                <a:gridCol w="1755150"/>
              </a:tblGrid>
              <a:tr h="456325">
                <a:tc>
                  <a:txBody>
                    <a:bodyPr/>
                    <a:lstStyle/>
                    <a:p>
                      <a:pPr indent="0" lvl="0" marL="9144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E1919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Campaigns </a:t>
                      </a:r>
                      <a:endParaRPr b="1" sz="1000">
                        <a:solidFill>
                          <a:srgbClr val="1E1919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EE9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-135890" lvl="0" marL="18288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>
                          <a:srgbClr val="1E1919"/>
                        </a:buClr>
                        <a:buSzPts val="700"/>
                        <a:buFont typeface="Helvetica Neue"/>
                        <a:buChar char="●"/>
                      </a:pPr>
                      <a:r>
                        <a:rPr lang="en" sz="900">
                          <a:solidFill>
                            <a:srgbClr val="1E1919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N/A</a:t>
                      </a:r>
                      <a:endParaRPr sz="900">
                        <a:solidFill>
                          <a:srgbClr val="1E1919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EE9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-135890" lvl="0" marL="18288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>
                          <a:srgbClr val="1E1919"/>
                        </a:buClr>
                        <a:buSzPts val="700"/>
                        <a:buFont typeface="Helvetica Neue"/>
                        <a:buChar char="●"/>
                      </a:pPr>
                      <a:r>
                        <a:rPr lang="en" sz="900">
                          <a:solidFill>
                            <a:srgbClr val="1E1919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Launch paid media campaign</a:t>
                      </a:r>
                      <a:endParaRPr sz="900">
                        <a:solidFill>
                          <a:srgbClr val="1E1919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EE9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-135890" lvl="0" marL="18288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>
                          <a:srgbClr val="1E1919"/>
                        </a:buClr>
                        <a:buSzPts val="700"/>
                        <a:buFont typeface="Helvetica Neue"/>
                        <a:buChar char="●"/>
                      </a:pPr>
                      <a:r>
                        <a:rPr lang="en" sz="900">
                          <a:solidFill>
                            <a:srgbClr val="1E1919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Secure XX media mentions</a:t>
                      </a:r>
                      <a:endParaRPr sz="900">
                        <a:solidFill>
                          <a:srgbClr val="1E1919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EE9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-135890" lvl="0" marL="18288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>
                          <a:srgbClr val="1E1919"/>
                        </a:buClr>
                        <a:buSzPts val="700"/>
                        <a:buChar char="●"/>
                      </a:pPr>
                      <a:r>
                        <a:rPr lang="en" sz="900">
                          <a:solidFill>
                            <a:srgbClr val="1E1919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Launch XX key brand partnerships</a:t>
                      </a:r>
                      <a:endParaRPr sz="900">
                        <a:solidFill>
                          <a:srgbClr val="1E1919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EE9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8711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rgbClr val="1E1919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Launch Activities</a:t>
                      </a:r>
                      <a:endParaRPr b="1" sz="1000">
                        <a:solidFill>
                          <a:srgbClr val="1E1919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9144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000">
                        <a:solidFill>
                          <a:srgbClr val="1E1919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9144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rgbClr val="1E1919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EE9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EE9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35890" lvl="0" marL="18288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919"/>
                        </a:buClr>
                        <a:buSzPts val="700"/>
                        <a:buFont typeface="Helvetica Neue"/>
                        <a:buChar char="●"/>
                      </a:pPr>
                      <a:r>
                        <a:rPr lang="en" sz="900">
                          <a:solidFill>
                            <a:srgbClr val="1E1919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Website audit</a:t>
                      </a:r>
                      <a:endParaRPr sz="900">
                        <a:solidFill>
                          <a:srgbClr val="1E1919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135890" lvl="0" marL="182880" marR="0" rtl="0" algn="l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rgbClr val="1E1919"/>
                        </a:buClr>
                        <a:buSzPts val="700"/>
                        <a:buFont typeface="Helvetica Neue"/>
                        <a:buChar char="●"/>
                      </a:pPr>
                      <a:r>
                        <a:rPr lang="en" sz="900">
                          <a:solidFill>
                            <a:srgbClr val="1E1919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Conduct market research</a:t>
                      </a:r>
                      <a:endParaRPr sz="900">
                        <a:solidFill>
                          <a:srgbClr val="1E1919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91440" lvl="0" marL="182880" marR="0" rtl="0" algn="l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E1919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EE9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EE9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35890" lvl="0" marL="18288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919"/>
                        </a:buClr>
                        <a:buSzPts val="700"/>
                        <a:buFont typeface="Helvetica Neue"/>
                        <a:buChar char="●"/>
                      </a:pPr>
                      <a:r>
                        <a:rPr lang="en" sz="900">
                          <a:solidFill>
                            <a:srgbClr val="1E1919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Optimize ad placements &amp; spend</a:t>
                      </a:r>
                      <a:endParaRPr sz="900">
                        <a:solidFill>
                          <a:srgbClr val="1E1919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135890" lvl="0" marL="182880" marR="0" rtl="0" algn="l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1E1919"/>
                        </a:buClr>
                        <a:buSzPts val="700"/>
                        <a:buFont typeface="Helvetica Neue"/>
                        <a:buChar char="●"/>
                      </a:pPr>
                      <a:r>
                        <a:rPr lang="en" sz="900">
                          <a:solidFill>
                            <a:srgbClr val="1E1919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Conduct A/B testing</a:t>
                      </a:r>
                      <a:endParaRPr sz="900">
                        <a:solidFill>
                          <a:srgbClr val="1E1919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EE9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EE9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35890" lvl="0" marL="18288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919"/>
                        </a:buClr>
                        <a:buSzPts val="700"/>
                        <a:buFont typeface="Helvetica Neue"/>
                        <a:buChar char="●"/>
                      </a:pPr>
                      <a:r>
                        <a:rPr lang="en" sz="900">
                          <a:solidFill>
                            <a:srgbClr val="1E1919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Secure XX speaking gigs</a:t>
                      </a:r>
                      <a:endParaRPr sz="900">
                        <a:solidFill>
                          <a:srgbClr val="1E1919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135890" lvl="0" marL="182880" marR="0" rtl="0" algn="l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1E1919"/>
                        </a:buClr>
                        <a:buSzPts val="700"/>
                        <a:buFont typeface="Helvetica Neue"/>
                        <a:buChar char="●"/>
                      </a:pPr>
                      <a:r>
                        <a:rPr lang="en" sz="900">
                          <a:solidFill>
                            <a:srgbClr val="1E1919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Organic social promo</a:t>
                      </a:r>
                      <a:endParaRPr sz="900">
                        <a:solidFill>
                          <a:srgbClr val="1E1919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EE9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EE9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35890" lvl="0" marL="18288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919"/>
                        </a:buClr>
                        <a:buSzPts val="700"/>
                        <a:buChar char="●"/>
                      </a:pPr>
                      <a:r>
                        <a:rPr lang="en" sz="900">
                          <a:solidFill>
                            <a:srgbClr val="1E1919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Secure XX event sponsorships</a:t>
                      </a:r>
                      <a:endParaRPr sz="900">
                        <a:solidFill>
                          <a:srgbClr val="1E1919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129540" lvl="0" marL="182880" marR="0" rtl="0" algn="l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1E1919"/>
                        </a:buClr>
                        <a:buSzPts val="600"/>
                        <a:buFont typeface="Helvetica Neue"/>
                        <a:buChar char="●"/>
                      </a:pPr>
                      <a:r>
                        <a:rPr lang="en" sz="900">
                          <a:solidFill>
                            <a:srgbClr val="1E1919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Increase share of voice</a:t>
                      </a:r>
                      <a:endParaRPr sz="900">
                        <a:solidFill>
                          <a:srgbClr val="1E1919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EE9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EE9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7550">
                <a:tc>
                  <a:txBody>
                    <a:bodyPr/>
                    <a:lstStyle/>
                    <a:p>
                      <a:pPr indent="0" lvl="0" marL="9144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rgbClr val="1E1919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Ongoing Initiatives</a:t>
                      </a:r>
                      <a:endParaRPr b="1" sz="1000">
                        <a:solidFill>
                          <a:srgbClr val="1E1919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9144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000">
                        <a:solidFill>
                          <a:srgbClr val="1E1919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9144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rgbClr val="1E1919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EE9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-135890" lvl="0" marL="18288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>
                          <a:srgbClr val="1E1919"/>
                        </a:buClr>
                        <a:buSzPts val="700"/>
                        <a:buFont typeface="Helvetica Neue"/>
                        <a:buChar char="●"/>
                      </a:pPr>
                      <a:r>
                        <a:rPr lang="en" sz="900">
                          <a:solidFill>
                            <a:srgbClr val="1E1919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Monitor site health &amp; performance</a:t>
                      </a:r>
                      <a:endParaRPr sz="900">
                        <a:solidFill>
                          <a:srgbClr val="1E1919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EE9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-135890" lvl="0" marL="18288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919"/>
                        </a:buClr>
                        <a:buSzPts val="700"/>
                        <a:buChar char="●"/>
                      </a:pPr>
                      <a:r>
                        <a:rPr lang="en" sz="900">
                          <a:solidFill>
                            <a:srgbClr val="1E1919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Analyze A/B test results</a:t>
                      </a:r>
                      <a:endParaRPr sz="900">
                        <a:solidFill>
                          <a:srgbClr val="1E1919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91440" lvl="0" marL="182880" marR="0" rtl="0" algn="l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E1919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EE9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-135890" lvl="0" marL="18288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>
                          <a:srgbClr val="1E1919"/>
                        </a:buClr>
                        <a:buSzPts val="700"/>
                        <a:buChar char="●"/>
                      </a:pPr>
                      <a:r>
                        <a:rPr lang="en" sz="900">
                          <a:solidFill>
                            <a:srgbClr val="1E1919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Develop product launch plans</a:t>
                      </a:r>
                      <a:endParaRPr sz="900">
                        <a:solidFill>
                          <a:srgbClr val="1E1919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EE9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-135890" lvl="0" marL="18288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>
                          <a:srgbClr val="1E1919"/>
                        </a:buClr>
                        <a:buSzPts val="700"/>
                        <a:buChar char="●"/>
                      </a:pPr>
                      <a:r>
                        <a:rPr lang="en" sz="900">
                          <a:solidFill>
                            <a:srgbClr val="1E1919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Identify new media outlets</a:t>
                      </a:r>
                      <a:endParaRPr sz="900">
                        <a:solidFill>
                          <a:srgbClr val="1E1919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EE9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243" name="Google Shape;243;p31"/>
          <p:cNvSpPr txBox="1"/>
          <p:nvPr/>
        </p:nvSpPr>
        <p:spPr>
          <a:xfrm>
            <a:off x="457200" y="338825"/>
            <a:ext cx="76062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E1919"/>
                </a:solidFill>
                <a:latin typeface="Helvetica"/>
                <a:ea typeface="Helvetica"/>
                <a:cs typeface="Helvetica"/>
                <a:sym typeface="Helvetica"/>
              </a:rPr>
              <a:t>Project Timeline</a:t>
            </a:r>
            <a:endParaRPr b="1" sz="3000">
              <a:solidFill>
                <a:srgbClr val="1E1919"/>
              </a:solidFill>
              <a:latin typeface="Helvetica"/>
              <a:ea typeface="Helvetica"/>
              <a:cs typeface="Helvetica"/>
              <a:sym typeface="Helvetic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1919"/>
              </a:solid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244" name="Google Shape;244;p31"/>
          <p:cNvSpPr txBox="1"/>
          <p:nvPr/>
        </p:nvSpPr>
        <p:spPr>
          <a:xfrm>
            <a:off x="1511300" y="4541700"/>
            <a:ext cx="2352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Confidential | Last updated [mm/dd/yy]</a:t>
            </a:r>
            <a:endParaRPr sz="10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5" name="Google Shape;245;p31"/>
          <p:cNvSpPr txBox="1"/>
          <p:nvPr>
            <p:ph type="title"/>
          </p:nvPr>
        </p:nvSpPr>
        <p:spPr>
          <a:xfrm>
            <a:off x="1649400" y="1198650"/>
            <a:ext cx="673500" cy="2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Helvetica"/>
                <a:ea typeface="Helvetica"/>
                <a:cs typeface="Helvetica"/>
                <a:sym typeface="Helvetica"/>
              </a:rPr>
              <a:t>Q1</a:t>
            </a:r>
            <a:endParaRPr sz="3600">
              <a:solidFill>
                <a:schemeClr val="dk1"/>
              </a:solid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246" name="Google Shape;246;p31"/>
          <p:cNvSpPr txBox="1"/>
          <p:nvPr>
            <p:ph type="title"/>
          </p:nvPr>
        </p:nvSpPr>
        <p:spPr>
          <a:xfrm>
            <a:off x="3460225" y="1198650"/>
            <a:ext cx="673500" cy="2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Helvetica"/>
                <a:ea typeface="Helvetica"/>
                <a:cs typeface="Helvetica"/>
                <a:sym typeface="Helvetica"/>
              </a:rPr>
              <a:t>Q2</a:t>
            </a:r>
            <a:endParaRPr sz="3600">
              <a:solidFill>
                <a:schemeClr val="dk1"/>
              </a:solid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247" name="Google Shape;247;p31"/>
          <p:cNvSpPr txBox="1"/>
          <p:nvPr>
            <p:ph type="title"/>
          </p:nvPr>
        </p:nvSpPr>
        <p:spPr>
          <a:xfrm>
            <a:off x="5271050" y="1198650"/>
            <a:ext cx="673500" cy="2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Helvetica"/>
                <a:ea typeface="Helvetica"/>
                <a:cs typeface="Helvetica"/>
                <a:sym typeface="Helvetica"/>
              </a:rPr>
              <a:t>Q3</a:t>
            </a:r>
            <a:endParaRPr sz="3600">
              <a:solidFill>
                <a:schemeClr val="dk1"/>
              </a:solid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248" name="Google Shape;248;p31"/>
          <p:cNvSpPr txBox="1"/>
          <p:nvPr>
            <p:ph type="title"/>
          </p:nvPr>
        </p:nvSpPr>
        <p:spPr>
          <a:xfrm>
            <a:off x="7081875" y="1198650"/>
            <a:ext cx="673500" cy="2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Helvetica"/>
                <a:ea typeface="Helvetica"/>
                <a:cs typeface="Helvetica"/>
                <a:sym typeface="Helvetica"/>
              </a:rPr>
              <a:t>Q4</a:t>
            </a:r>
            <a:endParaRPr sz="3600">
              <a:solidFill>
                <a:schemeClr val="dk1"/>
              </a:solidFill>
              <a:latin typeface="Helvetica"/>
              <a:ea typeface="Helvetica"/>
              <a:cs typeface="Helvetica"/>
              <a:sym typeface="Helvetica"/>
            </a:endParaRPr>
          </a:p>
        </p:txBody>
      </p:sp>
      <p:grpSp>
        <p:nvGrpSpPr>
          <p:cNvPr id="249" name="Google Shape;249;p31"/>
          <p:cNvGrpSpPr/>
          <p:nvPr/>
        </p:nvGrpSpPr>
        <p:grpSpPr>
          <a:xfrm>
            <a:off x="457200" y="4461450"/>
            <a:ext cx="919500" cy="314400"/>
            <a:chOff x="457200" y="4461450"/>
            <a:chExt cx="919500" cy="314400"/>
          </a:xfrm>
        </p:grpSpPr>
        <p:sp>
          <p:nvSpPr>
            <p:cNvPr id="250" name="Google Shape;250;p31"/>
            <p:cNvSpPr/>
            <p:nvPr/>
          </p:nvSpPr>
          <p:spPr>
            <a:xfrm>
              <a:off x="457200" y="4461450"/>
              <a:ext cx="919500" cy="3144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31"/>
            <p:cNvSpPr txBox="1"/>
            <p:nvPr/>
          </p:nvSpPr>
          <p:spPr>
            <a:xfrm>
              <a:off x="546900" y="4529400"/>
              <a:ext cx="740100" cy="1785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rgbClr val="666666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Your logo</a:t>
              </a:r>
              <a:endParaRPr sz="11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2"/>
          <p:cNvSpPr txBox="1"/>
          <p:nvPr/>
        </p:nvSpPr>
        <p:spPr>
          <a:xfrm>
            <a:off x="467125" y="328450"/>
            <a:ext cx="67677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Helvetica"/>
                <a:ea typeface="Helvetica"/>
                <a:cs typeface="Helvetica"/>
                <a:sym typeface="Helvetica"/>
              </a:rPr>
              <a:t>Investment Breakdown</a:t>
            </a:r>
            <a:endParaRPr b="1" sz="3000">
              <a:solidFill>
                <a:schemeClr val="dk1"/>
              </a:solidFill>
              <a:latin typeface="Helvetica"/>
              <a:ea typeface="Helvetica"/>
              <a:cs typeface="Helvetica"/>
              <a:sym typeface="Helvetic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258" name="Google Shape;258;p32"/>
          <p:cNvSpPr txBox="1"/>
          <p:nvPr/>
        </p:nvSpPr>
        <p:spPr>
          <a:xfrm>
            <a:off x="1511300" y="4541700"/>
            <a:ext cx="2352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Confidential | Last updated [mm/dd/yy]</a:t>
            </a:r>
            <a:endParaRPr sz="10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9" name="Google Shape;259;p32"/>
          <p:cNvSpPr txBox="1"/>
          <p:nvPr/>
        </p:nvSpPr>
        <p:spPr>
          <a:xfrm>
            <a:off x="467125" y="3138775"/>
            <a:ext cx="5806500" cy="1026000"/>
          </a:xfrm>
          <a:prstGeom prst="rect">
            <a:avLst/>
          </a:prstGeom>
          <a:solidFill>
            <a:srgbClr val="14C8E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EEFEFB"/>
                </a:solidFill>
              </a:rPr>
              <a:t>Provide an in-depth breakdown of your proposed pricing. Include itemized costs, discounts, taxes, and the grand total. </a:t>
            </a:r>
            <a:endParaRPr sz="1250">
              <a:solidFill>
                <a:srgbClr val="EEFEFB"/>
              </a:solidFill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EEFEFB"/>
                </a:solidFill>
              </a:rPr>
              <a:t>Sharing this level of detail with prospects helps simplify the quote’s structure and avoids potential confusion down the road. </a:t>
            </a:r>
            <a:endParaRPr sz="1250">
              <a:solidFill>
                <a:srgbClr val="EEFEFB"/>
              </a:solidFill>
            </a:endParaRPr>
          </a:p>
        </p:txBody>
      </p:sp>
      <p:grpSp>
        <p:nvGrpSpPr>
          <p:cNvPr id="260" name="Google Shape;260;p32"/>
          <p:cNvGrpSpPr/>
          <p:nvPr/>
        </p:nvGrpSpPr>
        <p:grpSpPr>
          <a:xfrm>
            <a:off x="457200" y="4461450"/>
            <a:ext cx="919500" cy="314400"/>
            <a:chOff x="457200" y="4461450"/>
            <a:chExt cx="919500" cy="314400"/>
          </a:xfrm>
        </p:grpSpPr>
        <p:sp>
          <p:nvSpPr>
            <p:cNvPr id="261" name="Google Shape;261;p32"/>
            <p:cNvSpPr/>
            <p:nvPr/>
          </p:nvSpPr>
          <p:spPr>
            <a:xfrm>
              <a:off x="457200" y="4461450"/>
              <a:ext cx="919500" cy="3144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32"/>
            <p:cNvSpPr txBox="1"/>
            <p:nvPr/>
          </p:nvSpPr>
          <p:spPr>
            <a:xfrm>
              <a:off x="546900" y="4529400"/>
              <a:ext cx="740100" cy="1785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rgbClr val="666666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Your logo</a:t>
              </a:r>
              <a:endParaRPr sz="11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aphicFrame>
        <p:nvGraphicFramePr>
          <p:cNvPr id="263" name="Google Shape;263;p32"/>
          <p:cNvGraphicFramePr/>
          <p:nvPr/>
        </p:nvGraphicFramePr>
        <p:xfrm>
          <a:off x="467125" y="918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{08ADFBB5-2290-4648-8394-20B9E96A8BAC}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Itemized Cost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Monthly services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$500.00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Discounts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10%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Taxes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Grand Total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$485.00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3"/>
          <p:cNvSpPr txBox="1"/>
          <p:nvPr>
            <p:ph idx="1" type="subTitle"/>
          </p:nvPr>
        </p:nvSpPr>
        <p:spPr>
          <a:xfrm>
            <a:off x="413250" y="2754900"/>
            <a:ext cx="22122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Helvetica"/>
                <a:ea typeface="Helvetica"/>
                <a:cs typeface="Helvetica"/>
                <a:sym typeface="Helvetica"/>
              </a:rPr>
              <a:t>[Address | Phone | Email]</a:t>
            </a:r>
            <a:endParaRPr>
              <a:solidFill>
                <a:schemeClr val="dk1"/>
              </a:solid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269" name="Google Shape;269;p33"/>
          <p:cNvSpPr txBox="1"/>
          <p:nvPr>
            <p:ph type="title"/>
          </p:nvPr>
        </p:nvSpPr>
        <p:spPr>
          <a:xfrm>
            <a:off x="413250" y="1205325"/>
            <a:ext cx="2922600" cy="51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Helvetica"/>
                <a:ea typeface="Helvetica"/>
                <a:cs typeface="Helvetica"/>
                <a:sym typeface="Helvetica"/>
              </a:rPr>
              <a:t>[Company]</a:t>
            </a:r>
            <a:endParaRPr b="1" sz="3600">
              <a:solidFill>
                <a:schemeClr val="dk1"/>
              </a:solidFill>
              <a:latin typeface="Helvetica"/>
              <a:ea typeface="Helvetica"/>
              <a:cs typeface="Helvetica"/>
              <a:sym typeface="Helvet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</p:txBody>
      </p:sp>
      <p:sp>
        <p:nvSpPr>
          <p:cNvPr id="270" name="Google Shape;270;p33"/>
          <p:cNvSpPr txBox="1"/>
          <p:nvPr>
            <p:ph type="title"/>
          </p:nvPr>
        </p:nvSpPr>
        <p:spPr>
          <a:xfrm>
            <a:off x="413250" y="1825200"/>
            <a:ext cx="4038600" cy="3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Helvetica"/>
                <a:ea typeface="Helvetica"/>
                <a:cs typeface="Helvetica"/>
                <a:sym typeface="Helvetica"/>
              </a:rPr>
              <a:t>Pricing Proposal - [mm/dd/yy]</a:t>
            </a:r>
            <a:endParaRPr sz="2200">
              <a:solidFill>
                <a:schemeClr val="dk1"/>
              </a:solidFill>
              <a:latin typeface="Helvetica"/>
              <a:ea typeface="Helvetica"/>
              <a:cs typeface="Helvetica"/>
              <a:sym typeface="Helvet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</p:txBody>
      </p:sp>
      <p:sp>
        <p:nvSpPr>
          <p:cNvPr id="271" name="Google Shape;271;p33"/>
          <p:cNvSpPr txBox="1"/>
          <p:nvPr>
            <p:ph type="title"/>
          </p:nvPr>
        </p:nvSpPr>
        <p:spPr>
          <a:xfrm>
            <a:off x="413250" y="2264725"/>
            <a:ext cx="3296400" cy="3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Helvetica"/>
                <a:ea typeface="Helvetica"/>
                <a:cs typeface="Helvetica"/>
                <a:sym typeface="Helvetica"/>
              </a:rPr>
              <a:t>[website]</a:t>
            </a:r>
            <a:endParaRPr sz="3600">
              <a:solidFill>
                <a:schemeClr val="dk1"/>
              </a:solid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272" name="Google Shape;272;p33"/>
          <p:cNvSpPr txBox="1"/>
          <p:nvPr/>
        </p:nvSpPr>
        <p:spPr>
          <a:xfrm>
            <a:off x="1511300" y="4541700"/>
            <a:ext cx="2352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Confidential | Last updated [mm/dd/yy]</a:t>
            </a:r>
            <a:endParaRPr sz="10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3" name="Google Shape;273;p33"/>
          <p:cNvSpPr/>
          <p:nvPr/>
        </p:nvSpPr>
        <p:spPr>
          <a:xfrm>
            <a:off x="4505325" y="552450"/>
            <a:ext cx="4038600" cy="40386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3"/>
          <p:cNvSpPr txBox="1"/>
          <p:nvPr/>
        </p:nvSpPr>
        <p:spPr>
          <a:xfrm>
            <a:off x="6154575" y="2379450"/>
            <a:ext cx="7401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 graph</a:t>
            </a:r>
            <a:br>
              <a:rPr lang="en" sz="1100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1100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 image</a:t>
            </a:r>
            <a:endParaRPr sz="1100">
              <a:solidFill>
                <a:srgbClr val="9999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75" name="Google Shape;275;p33"/>
          <p:cNvGrpSpPr/>
          <p:nvPr/>
        </p:nvGrpSpPr>
        <p:grpSpPr>
          <a:xfrm>
            <a:off x="457200" y="4461450"/>
            <a:ext cx="919500" cy="314400"/>
            <a:chOff x="457200" y="4461450"/>
            <a:chExt cx="919500" cy="314400"/>
          </a:xfrm>
        </p:grpSpPr>
        <p:sp>
          <p:nvSpPr>
            <p:cNvPr id="276" name="Google Shape;276;p33"/>
            <p:cNvSpPr/>
            <p:nvPr/>
          </p:nvSpPr>
          <p:spPr>
            <a:xfrm>
              <a:off x="457200" y="4461450"/>
              <a:ext cx="919500" cy="3144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33"/>
            <p:cNvSpPr txBox="1"/>
            <p:nvPr/>
          </p:nvSpPr>
          <p:spPr>
            <a:xfrm>
              <a:off x="546900" y="4529400"/>
              <a:ext cx="740100" cy="1785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rgbClr val="666666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Your logo</a:t>
              </a:r>
              <a:endParaRPr sz="11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